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5" r:id="rId4"/>
    <p:sldId id="270" r:id="rId5"/>
    <p:sldId id="269" r:id="rId6"/>
    <p:sldId id="268" r:id="rId7"/>
    <p:sldId id="267" r:id="rId8"/>
    <p:sldId id="263" r:id="rId9"/>
    <p:sldId id="264" r:id="rId10"/>
    <p:sldId id="265" r:id="rId11"/>
    <p:sldId id="266" r:id="rId12"/>
    <p:sldId id="257" r:id="rId13"/>
    <p:sldId id="258" r:id="rId14"/>
    <p:sldId id="259" r:id="rId15"/>
    <p:sldId id="260" r:id="rId16"/>
    <p:sldId id="261" r:id="rId17"/>
    <p:sldId id="262" r:id="rId18"/>
    <p:sldId id="271" r:id="rId19"/>
    <p:sldId id="273" r:id="rId20"/>
    <p:sldId id="272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35" autoAdjust="0"/>
    <p:restoredTop sz="94660"/>
  </p:normalViewPr>
  <p:slideViewPr>
    <p:cSldViewPr snapToGrid="0">
      <p:cViewPr>
        <p:scale>
          <a:sx n="80" d="100"/>
          <a:sy n="80" d="100"/>
        </p:scale>
        <p:origin x="48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6B4902-1620-454F-8DF6-DE75027919B4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E57A68F-4E2C-4279-A4B4-5AC5E5B936E8}">
      <dgm:prSet/>
      <dgm:spPr/>
      <dgm:t>
        <a:bodyPr/>
        <a:lstStyle/>
        <a:p>
          <a:r>
            <a:rPr lang="en-IN" b="1"/>
            <a:t>Key Feature Groups</a:t>
          </a:r>
          <a:endParaRPr lang="en-US"/>
        </a:p>
      </dgm:t>
    </dgm:pt>
    <dgm:pt modelId="{B63337DD-0257-4419-9474-9DEACD627C42}" type="parTrans" cxnId="{E08C24C0-07D8-46B7-BFF4-2F6EF54B3490}">
      <dgm:prSet/>
      <dgm:spPr/>
      <dgm:t>
        <a:bodyPr/>
        <a:lstStyle/>
        <a:p>
          <a:endParaRPr lang="en-US"/>
        </a:p>
      </dgm:t>
    </dgm:pt>
    <dgm:pt modelId="{23B314CC-D82D-45E3-AEEA-63CF1CC89D5D}" type="sibTrans" cxnId="{E08C24C0-07D8-46B7-BFF4-2F6EF54B3490}">
      <dgm:prSet/>
      <dgm:spPr/>
      <dgm:t>
        <a:bodyPr/>
        <a:lstStyle/>
        <a:p>
          <a:endParaRPr lang="en-US"/>
        </a:p>
      </dgm:t>
    </dgm:pt>
    <dgm:pt modelId="{9DB6B6E1-7ACD-454D-91E1-35EA88D6FD51}">
      <dgm:prSet/>
      <dgm:spPr/>
      <dgm:t>
        <a:bodyPr/>
        <a:lstStyle/>
        <a:p>
          <a:r>
            <a:rPr lang="en-IN" b="1"/>
            <a:t>Growth Rates (YoY):</a:t>
          </a:r>
          <a:r>
            <a:rPr lang="en-IN"/>
            <a:t> population, immigration, NPR, housing starts</a:t>
          </a:r>
          <a:endParaRPr lang="en-US"/>
        </a:p>
      </dgm:t>
    </dgm:pt>
    <dgm:pt modelId="{8A3D8E49-93B7-4E4E-82EE-3A4BAAE07867}" type="parTrans" cxnId="{D200C975-C744-41B3-9D5D-0BCEB02BCD22}">
      <dgm:prSet/>
      <dgm:spPr/>
      <dgm:t>
        <a:bodyPr/>
        <a:lstStyle/>
        <a:p>
          <a:endParaRPr lang="en-US"/>
        </a:p>
      </dgm:t>
    </dgm:pt>
    <dgm:pt modelId="{D92251FB-0728-4166-B9EB-17D4B3D31CA3}" type="sibTrans" cxnId="{D200C975-C744-41B3-9D5D-0BCEB02BCD22}">
      <dgm:prSet/>
      <dgm:spPr/>
      <dgm:t>
        <a:bodyPr/>
        <a:lstStyle/>
        <a:p>
          <a:endParaRPr lang="en-US"/>
        </a:p>
      </dgm:t>
    </dgm:pt>
    <dgm:pt modelId="{44147B1B-89D5-4D17-B872-7F7A7FA7FF32}">
      <dgm:prSet/>
      <dgm:spPr/>
      <dgm:t>
        <a:bodyPr/>
        <a:lstStyle/>
        <a:p>
          <a:r>
            <a:rPr lang="en-IN" b="1"/>
            <a:t>Per-Capita Ratios:</a:t>
          </a:r>
          <a:r>
            <a:rPr lang="en-IN"/>
            <a:t> immigrants per 10k, NPR per 10k, housing starts per 10k</a:t>
          </a:r>
          <a:endParaRPr lang="en-US"/>
        </a:p>
      </dgm:t>
    </dgm:pt>
    <dgm:pt modelId="{1AA695AE-7786-4F2E-B7C9-C6C0F612ED0A}" type="parTrans" cxnId="{D397D447-68E3-4FB4-AD1D-072DD03742A5}">
      <dgm:prSet/>
      <dgm:spPr/>
      <dgm:t>
        <a:bodyPr/>
        <a:lstStyle/>
        <a:p>
          <a:endParaRPr lang="en-US"/>
        </a:p>
      </dgm:t>
    </dgm:pt>
    <dgm:pt modelId="{241AE2BD-EC14-44F8-88E2-446993909EFD}" type="sibTrans" cxnId="{D397D447-68E3-4FB4-AD1D-072DD03742A5}">
      <dgm:prSet/>
      <dgm:spPr/>
      <dgm:t>
        <a:bodyPr/>
        <a:lstStyle/>
        <a:p>
          <a:endParaRPr lang="en-US"/>
        </a:p>
      </dgm:t>
    </dgm:pt>
    <dgm:pt modelId="{522EB67E-EE3C-4202-8917-809722B0FFAC}">
      <dgm:prSet/>
      <dgm:spPr/>
      <dgm:t>
        <a:bodyPr/>
        <a:lstStyle/>
        <a:p>
          <a:r>
            <a:rPr lang="en-IN" b="1"/>
            <a:t>Pressure Ratio:</a:t>
          </a:r>
          <a:r>
            <a:rPr lang="en-IN"/>
            <a:t> (immigrants + NPR) ÷ housing starts</a:t>
          </a:r>
          <a:endParaRPr lang="en-US"/>
        </a:p>
      </dgm:t>
    </dgm:pt>
    <dgm:pt modelId="{DA2967A8-0433-4420-9DB1-B8C2398D4324}" type="parTrans" cxnId="{857DFF97-927A-4575-B7AD-3C84BB86B3FC}">
      <dgm:prSet/>
      <dgm:spPr/>
      <dgm:t>
        <a:bodyPr/>
        <a:lstStyle/>
        <a:p>
          <a:endParaRPr lang="en-US"/>
        </a:p>
      </dgm:t>
    </dgm:pt>
    <dgm:pt modelId="{E092AA99-0925-4FB7-A647-BB3512996EEB}" type="sibTrans" cxnId="{857DFF97-927A-4575-B7AD-3C84BB86B3FC}">
      <dgm:prSet/>
      <dgm:spPr/>
      <dgm:t>
        <a:bodyPr/>
        <a:lstStyle/>
        <a:p>
          <a:endParaRPr lang="en-US"/>
        </a:p>
      </dgm:t>
    </dgm:pt>
    <dgm:pt modelId="{FC5D40B2-E06E-41A1-8BAF-2A1EFE1C6B60}">
      <dgm:prSet/>
      <dgm:spPr/>
      <dgm:t>
        <a:bodyPr/>
        <a:lstStyle/>
        <a:p>
          <a:r>
            <a:rPr lang="en-IN" b="1"/>
            <a:t>Lagged Variables:</a:t>
          </a:r>
          <a:r>
            <a:rPr lang="en-IN"/>
            <a:t> 2-quarter lags for migration &amp; rates, 4-quarter lag for housing supply</a:t>
          </a:r>
          <a:endParaRPr lang="en-US"/>
        </a:p>
      </dgm:t>
    </dgm:pt>
    <dgm:pt modelId="{443F307A-8214-4051-987A-6C8E51F077B9}" type="parTrans" cxnId="{CCFD3092-07DA-41D8-953C-D270DC17BAA7}">
      <dgm:prSet/>
      <dgm:spPr/>
      <dgm:t>
        <a:bodyPr/>
        <a:lstStyle/>
        <a:p>
          <a:endParaRPr lang="en-US"/>
        </a:p>
      </dgm:t>
    </dgm:pt>
    <dgm:pt modelId="{9CF73E62-59B3-479B-866B-CA7A5A464F88}" type="sibTrans" cxnId="{CCFD3092-07DA-41D8-953C-D270DC17BAA7}">
      <dgm:prSet/>
      <dgm:spPr/>
      <dgm:t>
        <a:bodyPr/>
        <a:lstStyle/>
        <a:p>
          <a:endParaRPr lang="en-US"/>
        </a:p>
      </dgm:t>
    </dgm:pt>
    <dgm:pt modelId="{67002D19-D7A1-4D39-BA8E-665FD828F5B4}">
      <dgm:prSet/>
      <dgm:spPr/>
      <dgm:t>
        <a:bodyPr/>
        <a:lstStyle/>
        <a:p>
          <a:r>
            <a:rPr lang="en-IN" b="1"/>
            <a:t>Purpose</a:t>
          </a:r>
          <a:endParaRPr lang="en-US"/>
        </a:p>
      </dgm:t>
    </dgm:pt>
    <dgm:pt modelId="{7D7662D8-EB04-4E5D-9DCF-368898656499}" type="parTrans" cxnId="{AC628B34-847A-4A46-B6FB-63D87803D90B}">
      <dgm:prSet/>
      <dgm:spPr/>
      <dgm:t>
        <a:bodyPr/>
        <a:lstStyle/>
        <a:p>
          <a:endParaRPr lang="en-US"/>
        </a:p>
      </dgm:t>
    </dgm:pt>
    <dgm:pt modelId="{B98F29EB-E727-4690-9EC1-CEAE47183F27}" type="sibTrans" cxnId="{AC628B34-847A-4A46-B6FB-63D87803D90B}">
      <dgm:prSet/>
      <dgm:spPr/>
      <dgm:t>
        <a:bodyPr/>
        <a:lstStyle/>
        <a:p>
          <a:endParaRPr lang="en-US"/>
        </a:p>
      </dgm:t>
    </dgm:pt>
    <dgm:pt modelId="{3337A2AA-3652-4134-89FC-B3ADB43A7333}">
      <dgm:prSet/>
      <dgm:spPr/>
      <dgm:t>
        <a:bodyPr/>
        <a:lstStyle/>
        <a:p>
          <a:r>
            <a:rPr lang="en-IN"/>
            <a:t>Capture </a:t>
          </a:r>
          <a:r>
            <a:rPr lang="en-IN" b="1"/>
            <a:t>demand–supply imbalance</a:t>
          </a:r>
          <a:endParaRPr lang="en-US"/>
        </a:p>
      </dgm:t>
    </dgm:pt>
    <dgm:pt modelId="{F214A765-39B8-470C-B33E-584DF84E5368}" type="parTrans" cxnId="{A0282D91-BA94-4235-88F0-D12F61CCB96B}">
      <dgm:prSet/>
      <dgm:spPr/>
      <dgm:t>
        <a:bodyPr/>
        <a:lstStyle/>
        <a:p>
          <a:endParaRPr lang="en-US"/>
        </a:p>
      </dgm:t>
    </dgm:pt>
    <dgm:pt modelId="{E821AF46-FDAF-4871-8940-28C9D2C7D062}" type="sibTrans" cxnId="{A0282D91-BA94-4235-88F0-D12F61CCB96B}">
      <dgm:prSet/>
      <dgm:spPr/>
      <dgm:t>
        <a:bodyPr/>
        <a:lstStyle/>
        <a:p>
          <a:endParaRPr lang="en-US"/>
        </a:p>
      </dgm:t>
    </dgm:pt>
    <dgm:pt modelId="{3C14A81E-1EAF-4BDF-8397-5E9A2730F9A0}">
      <dgm:prSet/>
      <dgm:spPr/>
      <dgm:t>
        <a:bodyPr/>
        <a:lstStyle/>
        <a:p>
          <a:r>
            <a:rPr lang="en-IN"/>
            <a:t>Reflect </a:t>
          </a:r>
          <a:r>
            <a:rPr lang="en-IN" b="1"/>
            <a:t>real economic delays</a:t>
          </a:r>
          <a:endParaRPr lang="en-US"/>
        </a:p>
      </dgm:t>
    </dgm:pt>
    <dgm:pt modelId="{1D005DA5-2283-42B9-AC24-66B42ABB2D21}" type="parTrans" cxnId="{610D2CAA-6016-4022-A443-B6C77A88BA7B}">
      <dgm:prSet/>
      <dgm:spPr/>
      <dgm:t>
        <a:bodyPr/>
        <a:lstStyle/>
        <a:p>
          <a:endParaRPr lang="en-US"/>
        </a:p>
      </dgm:t>
    </dgm:pt>
    <dgm:pt modelId="{A276E3F6-AE5D-49DE-B064-B93DFC7515AA}" type="sibTrans" cxnId="{610D2CAA-6016-4022-A443-B6C77A88BA7B}">
      <dgm:prSet/>
      <dgm:spPr/>
      <dgm:t>
        <a:bodyPr/>
        <a:lstStyle/>
        <a:p>
          <a:endParaRPr lang="en-US"/>
        </a:p>
      </dgm:t>
    </dgm:pt>
    <dgm:pt modelId="{CF5D1F16-F950-49DF-AB9E-F822C0BC3EDF}">
      <dgm:prSet/>
      <dgm:spPr/>
      <dgm:t>
        <a:bodyPr/>
        <a:lstStyle/>
        <a:p>
          <a:r>
            <a:rPr lang="en-IN"/>
            <a:t>Enable models to test whether </a:t>
          </a:r>
          <a:r>
            <a:rPr lang="en-IN" b="1"/>
            <a:t>migration and housing dynamics</a:t>
          </a:r>
          <a:r>
            <a:rPr lang="en-IN"/>
            <a:t> influence inflation</a:t>
          </a:r>
          <a:endParaRPr lang="en-US"/>
        </a:p>
      </dgm:t>
    </dgm:pt>
    <dgm:pt modelId="{D78C754C-A1AD-4566-8707-8EB013847156}" type="parTrans" cxnId="{215E98B3-504E-42ED-BFB0-66774D9D9DC8}">
      <dgm:prSet/>
      <dgm:spPr/>
      <dgm:t>
        <a:bodyPr/>
        <a:lstStyle/>
        <a:p>
          <a:endParaRPr lang="en-US"/>
        </a:p>
      </dgm:t>
    </dgm:pt>
    <dgm:pt modelId="{096698F4-9403-4AD4-B1EA-4CEF62048A07}" type="sibTrans" cxnId="{215E98B3-504E-42ED-BFB0-66774D9D9DC8}">
      <dgm:prSet/>
      <dgm:spPr/>
      <dgm:t>
        <a:bodyPr/>
        <a:lstStyle/>
        <a:p>
          <a:endParaRPr lang="en-US"/>
        </a:p>
      </dgm:t>
    </dgm:pt>
    <dgm:pt modelId="{F3A08E8A-B110-40EA-8C18-83FF028D796A}" type="pres">
      <dgm:prSet presAssocID="{FF6B4902-1620-454F-8DF6-DE75027919B4}" presName="linear" presStyleCnt="0">
        <dgm:presLayoutVars>
          <dgm:dir/>
          <dgm:animLvl val="lvl"/>
          <dgm:resizeHandles val="exact"/>
        </dgm:presLayoutVars>
      </dgm:prSet>
      <dgm:spPr/>
    </dgm:pt>
    <dgm:pt modelId="{C5C447DE-7835-4759-9877-434C6EC07EDF}" type="pres">
      <dgm:prSet presAssocID="{4E57A68F-4E2C-4279-A4B4-5AC5E5B936E8}" presName="parentLin" presStyleCnt="0"/>
      <dgm:spPr/>
    </dgm:pt>
    <dgm:pt modelId="{74EFF0CF-9559-4002-8AFC-D68AA996BEEE}" type="pres">
      <dgm:prSet presAssocID="{4E57A68F-4E2C-4279-A4B4-5AC5E5B936E8}" presName="parentLeftMargin" presStyleLbl="node1" presStyleIdx="0" presStyleCnt="2"/>
      <dgm:spPr/>
    </dgm:pt>
    <dgm:pt modelId="{4AAE8EFD-0E75-497F-A71C-65DB810E3CE5}" type="pres">
      <dgm:prSet presAssocID="{4E57A68F-4E2C-4279-A4B4-5AC5E5B936E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5E4786D-DE99-46E1-8633-7C5BDE7F3767}" type="pres">
      <dgm:prSet presAssocID="{4E57A68F-4E2C-4279-A4B4-5AC5E5B936E8}" presName="negativeSpace" presStyleCnt="0"/>
      <dgm:spPr/>
    </dgm:pt>
    <dgm:pt modelId="{BC1DBC80-3EEE-4A10-A906-76C568D54727}" type="pres">
      <dgm:prSet presAssocID="{4E57A68F-4E2C-4279-A4B4-5AC5E5B936E8}" presName="childText" presStyleLbl="conFgAcc1" presStyleIdx="0" presStyleCnt="2">
        <dgm:presLayoutVars>
          <dgm:bulletEnabled val="1"/>
        </dgm:presLayoutVars>
      </dgm:prSet>
      <dgm:spPr/>
    </dgm:pt>
    <dgm:pt modelId="{4EB9F0DA-C829-4276-BA1D-0B13BD236A11}" type="pres">
      <dgm:prSet presAssocID="{23B314CC-D82D-45E3-AEEA-63CF1CC89D5D}" presName="spaceBetweenRectangles" presStyleCnt="0"/>
      <dgm:spPr/>
    </dgm:pt>
    <dgm:pt modelId="{276C576C-A9B1-4673-9339-E407D3EB49BC}" type="pres">
      <dgm:prSet presAssocID="{67002D19-D7A1-4D39-BA8E-665FD828F5B4}" presName="parentLin" presStyleCnt="0"/>
      <dgm:spPr/>
    </dgm:pt>
    <dgm:pt modelId="{57A6FDE1-536B-4116-8B52-156CEAFFD588}" type="pres">
      <dgm:prSet presAssocID="{67002D19-D7A1-4D39-BA8E-665FD828F5B4}" presName="parentLeftMargin" presStyleLbl="node1" presStyleIdx="0" presStyleCnt="2"/>
      <dgm:spPr/>
    </dgm:pt>
    <dgm:pt modelId="{0F20461C-4B18-4DA6-B630-3E2D58DB5EDE}" type="pres">
      <dgm:prSet presAssocID="{67002D19-D7A1-4D39-BA8E-665FD828F5B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00C5580-EC10-48B4-9C25-A11FCAE60EFB}" type="pres">
      <dgm:prSet presAssocID="{67002D19-D7A1-4D39-BA8E-665FD828F5B4}" presName="negativeSpace" presStyleCnt="0"/>
      <dgm:spPr/>
    </dgm:pt>
    <dgm:pt modelId="{E5D5E496-9766-4709-AD4F-0F0815DE67F9}" type="pres">
      <dgm:prSet presAssocID="{67002D19-D7A1-4D39-BA8E-665FD828F5B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C628B34-847A-4A46-B6FB-63D87803D90B}" srcId="{FF6B4902-1620-454F-8DF6-DE75027919B4}" destId="{67002D19-D7A1-4D39-BA8E-665FD828F5B4}" srcOrd="1" destOrd="0" parTransId="{7D7662D8-EB04-4E5D-9DCF-368898656499}" sibTransId="{B98F29EB-E727-4690-9EC1-CEAE47183F27}"/>
    <dgm:cxn modelId="{23579336-0212-412D-A281-D84894814E22}" type="presOf" srcId="{9DB6B6E1-7ACD-454D-91E1-35EA88D6FD51}" destId="{BC1DBC80-3EEE-4A10-A906-76C568D54727}" srcOrd="0" destOrd="0" presId="urn:microsoft.com/office/officeart/2005/8/layout/list1"/>
    <dgm:cxn modelId="{8326C636-AB6F-4B58-9D09-54BE6ABDE413}" type="presOf" srcId="{CF5D1F16-F950-49DF-AB9E-F822C0BC3EDF}" destId="{E5D5E496-9766-4709-AD4F-0F0815DE67F9}" srcOrd="0" destOrd="2" presId="urn:microsoft.com/office/officeart/2005/8/layout/list1"/>
    <dgm:cxn modelId="{6F8D8137-81BA-49B0-A981-DCC7EE7D951D}" type="presOf" srcId="{522EB67E-EE3C-4202-8917-809722B0FFAC}" destId="{BC1DBC80-3EEE-4A10-A906-76C568D54727}" srcOrd="0" destOrd="2" presId="urn:microsoft.com/office/officeart/2005/8/layout/list1"/>
    <dgm:cxn modelId="{D2D8803F-C6CB-4DFB-A62D-4C91A4F749E3}" type="presOf" srcId="{67002D19-D7A1-4D39-BA8E-665FD828F5B4}" destId="{0F20461C-4B18-4DA6-B630-3E2D58DB5EDE}" srcOrd="1" destOrd="0" presId="urn:microsoft.com/office/officeart/2005/8/layout/list1"/>
    <dgm:cxn modelId="{D397D447-68E3-4FB4-AD1D-072DD03742A5}" srcId="{4E57A68F-4E2C-4279-A4B4-5AC5E5B936E8}" destId="{44147B1B-89D5-4D17-B872-7F7A7FA7FF32}" srcOrd="1" destOrd="0" parTransId="{1AA695AE-7786-4F2E-B7C9-C6C0F612ED0A}" sibTransId="{241AE2BD-EC14-44F8-88E2-446993909EFD}"/>
    <dgm:cxn modelId="{F08CE64C-A5E7-428A-8033-D5AB1D229D8E}" type="presOf" srcId="{4E57A68F-4E2C-4279-A4B4-5AC5E5B936E8}" destId="{4AAE8EFD-0E75-497F-A71C-65DB810E3CE5}" srcOrd="1" destOrd="0" presId="urn:microsoft.com/office/officeart/2005/8/layout/list1"/>
    <dgm:cxn modelId="{005E5170-579F-4EF4-801C-CF0CC614D02D}" type="presOf" srcId="{4E57A68F-4E2C-4279-A4B4-5AC5E5B936E8}" destId="{74EFF0CF-9559-4002-8AFC-D68AA996BEEE}" srcOrd="0" destOrd="0" presId="urn:microsoft.com/office/officeart/2005/8/layout/list1"/>
    <dgm:cxn modelId="{D200C975-C744-41B3-9D5D-0BCEB02BCD22}" srcId="{4E57A68F-4E2C-4279-A4B4-5AC5E5B936E8}" destId="{9DB6B6E1-7ACD-454D-91E1-35EA88D6FD51}" srcOrd="0" destOrd="0" parTransId="{8A3D8E49-93B7-4E4E-82EE-3A4BAAE07867}" sibTransId="{D92251FB-0728-4166-B9EB-17D4B3D31CA3}"/>
    <dgm:cxn modelId="{41ACBB8A-A6F4-4578-8592-E5E7A02D5BE2}" type="presOf" srcId="{3337A2AA-3652-4134-89FC-B3ADB43A7333}" destId="{E5D5E496-9766-4709-AD4F-0F0815DE67F9}" srcOrd="0" destOrd="0" presId="urn:microsoft.com/office/officeart/2005/8/layout/list1"/>
    <dgm:cxn modelId="{3A78F48B-E51E-46F1-9E9A-265540FBBF1D}" type="presOf" srcId="{44147B1B-89D5-4D17-B872-7F7A7FA7FF32}" destId="{BC1DBC80-3EEE-4A10-A906-76C568D54727}" srcOrd="0" destOrd="1" presId="urn:microsoft.com/office/officeart/2005/8/layout/list1"/>
    <dgm:cxn modelId="{00F6C98D-9D92-43AC-B717-5E81FE32E597}" type="presOf" srcId="{3C14A81E-1EAF-4BDF-8397-5E9A2730F9A0}" destId="{E5D5E496-9766-4709-AD4F-0F0815DE67F9}" srcOrd="0" destOrd="1" presId="urn:microsoft.com/office/officeart/2005/8/layout/list1"/>
    <dgm:cxn modelId="{A0282D91-BA94-4235-88F0-D12F61CCB96B}" srcId="{67002D19-D7A1-4D39-BA8E-665FD828F5B4}" destId="{3337A2AA-3652-4134-89FC-B3ADB43A7333}" srcOrd="0" destOrd="0" parTransId="{F214A765-39B8-470C-B33E-584DF84E5368}" sibTransId="{E821AF46-FDAF-4871-8940-28C9D2C7D062}"/>
    <dgm:cxn modelId="{CCFD3092-07DA-41D8-953C-D270DC17BAA7}" srcId="{4E57A68F-4E2C-4279-A4B4-5AC5E5B936E8}" destId="{FC5D40B2-E06E-41A1-8BAF-2A1EFE1C6B60}" srcOrd="3" destOrd="0" parTransId="{443F307A-8214-4051-987A-6C8E51F077B9}" sibTransId="{9CF73E62-59B3-479B-866B-CA7A5A464F88}"/>
    <dgm:cxn modelId="{857DFF97-927A-4575-B7AD-3C84BB86B3FC}" srcId="{4E57A68F-4E2C-4279-A4B4-5AC5E5B936E8}" destId="{522EB67E-EE3C-4202-8917-809722B0FFAC}" srcOrd="2" destOrd="0" parTransId="{DA2967A8-0433-4420-9DB1-B8C2398D4324}" sibTransId="{E092AA99-0925-4FB7-A647-BB3512996EEB}"/>
    <dgm:cxn modelId="{65D092A4-954C-4F16-98F4-52CAF7C4E87C}" type="presOf" srcId="{FC5D40B2-E06E-41A1-8BAF-2A1EFE1C6B60}" destId="{BC1DBC80-3EEE-4A10-A906-76C568D54727}" srcOrd="0" destOrd="3" presId="urn:microsoft.com/office/officeart/2005/8/layout/list1"/>
    <dgm:cxn modelId="{610D2CAA-6016-4022-A443-B6C77A88BA7B}" srcId="{67002D19-D7A1-4D39-BA8E-665FD828F5B4}" destId="{3C14A81E-1EAF-4BDF-8397-5E9A2730F9A0}" srcOrd="1" destOrd="0" parTransId="{1D005DA5-2283-42B9-AC24-66B42ABB2D21}" sibTransId="{A276E3F6-AE5D-49DE-B064-B93DFC7515AA}"/>
    <dgm:cxn modelId="{215E98B3-504E-42ED-BFB0-66774D9D9DC8}" srcId="{67002D19-D7A1-4D39-BA8E-665FD828F5B4}" destId="{CF5D1F16-F950-49DF-AB9E-F822C0BC3EDF}" srcOrd="2" destOrd="0" parTransId="{D78C754C-A1AD-4566-8707-8EB013847156}" sibTransId="{096698F4-9403-4AD4-B1EA-4CEF62048A07}"/>
    <dgm:cxn modelId="{E08C24C0-07D8-46B7-BFF4-2F6EF54B3490}" srcId="{FF6B4902-1620-454F-8DF6-DE75027919B4}" destId="{4E57A68F-4E2C-4279-A4B4-5AC5E5B936E8}" srcOrd="0" destOrd="0" parTransId="{B63337DD-0257-4419-9474-9DEACD627C42}" sibTransId="{23B314CC-D82D-45E3-AEEA-63CF1CC89D5D}"/>
    <dgm:cxn modelId="{B4A82EC9-DE03-4A36-8110-F0C1DFEC79EB}" type="presOf" srcId="{FF6B4902-1620-454F-8DF6-DE75027919B4}" destId="{F3A08E8A-B110-40EA-8C18-83FF028D796A}" srcOrd="0" destOrd="0" presId="urn:microsoft.com/office/officeart/2005/8/layout/list1"/>
    <dgm:cxn modelId="{EC442ADC-DEC5-41F9-8C55-E7B606E19DB9}" type="presOf" srcId="{67002D19-D7A1-4D39-BA8E-665FD828F5B4}" destId="{57A6FDE1-536B-4116-8B52-156CEAFFD588}" srcOrd="0" destOrd="0" presId="urn:microsoft.com/office/officeart/2005/8/layout/list1"/>
    <dgm:cxn modelId="{8E80FC1E-711D-4844-8DCC-5B2685FA23D8}" type="presParOf" srcId="{F3A08E8A-B110-40EA-8C18-83FF028D796A}" destId="{C5C447DE-7835-4759-9877-434C6EC07EDF}" srcOrd="0" destOrd="0" presId="urn:microsoft.com/office/officeart/2005/8/layout/list1"/>
    <dgm:cxn modelId="{A2D650A1-EF58-44CC-8323-7DA36F9377A9}" type="presParOf" srcId="{C5C447DE-7835-4759-9877-434C6EC07EDF}" destId="{74EFF0CF-9559-4002-8AFC-D68AA996BEEE}" srcOrd="0" destOrd="0" presId="urn:microsoft.com/office/officeart/2005/8/layout/list1"/>
    <dgm:cxn modelId="{18BDE85A-198C-4B53-A3B4-A17997C7A974}" type="presParOf" srcId="{C5C447DE-7835-4759-9877-434C6EC07EDF}" destId="{4AAE8EFD-0E75-497F-A71C-65DB810E3CE5}" srcOrd="1" destOrd="0" presId="urn:microsoft.com/office/officeart/2005/8/layout/list1"/>
    <dgm:cxn modelId="{0E0828F0-9A0B-46FE-BF6A-1802C457989E}" type="presParOf" srcId="{F3A08E8A-B110-40EA-8C18-83FF028D796A}" destId="{55E4786D-DE99-46E1-8633-7C5BDE7F3767}" srcOrd="1" destOrd="0" presId="urn:microsoft.com/office/officeart/2005/8/layout/list1"/>
    <dgm:cxn modelId="{B849770F-6ECB-4269-8A2C-035303B535BA}" type="presParOf" srcId="{F3A08E8A-B110-40EA-8C18-83FF028D796A}" destId="{BC1DBC80-3EEE-4A10-A906-76C568D54727}" srcOrd="2" destOrd="0" presId="urn:microsoft.com/office/officeart/2005/8/layout/list1"/>
    <dgm:cxn modelId="{4657851B-D599-4B9C-B6CB-FCEE813F52B1}" type="presParOf" srcId="{F3A08E8A-B110-40EA-8C18-83FF028D796A}" destId="{4EB9F0DA-C829-4276-BA1D-0B13BD236A11}" srcOrd="3" destOrd="0" presId="urn:microsoft.com/office/officeart/2005/8/layout/list1"/>
    <dgm:cxn modelId="{2A7D3922-14CF-4BB8-AB28-68A76813A46F}" type="presParOf" srcId="{F3A08E8A-B110-40EA-8C18-83FF028D796A}" destId="{276C576C-A9B1-4673-9339-E407D3EB49BC}" srcOrd="4" destOrd="0" presId="urn:microsoft.com/office/officeart/2005/8/layout/list1"/>
    <dgm:cxn modelId="{1A4001DF-4AE9-4C62-87E8-348CF5C96652}" type="presParOf" srcId="{276C576C-A9B1-4673-9339-E407D3EB49BC}" destId="{57A6FDE1-536B-4116-8B52-156CEAFFD588}" srcOrd="0" destOrd="0" presId="urn:microsoft.com/office/officeart/2005/8/layout/list1"/>
    <dgm:cxn modelId="{A14D8B1C-1AF9-421A-9E54-D1FAA8D9A54C}" type="presParOf" srcId="{276C576C-A9B1-4673-9339-E407D3EB49BC}" destId="{0F20461C-4B18-4DA6-B630-3E2D58DB5EDE}" srcOrd="1" destOrd="0" presId="urn:microsoft.com/office/officeart/2005/8/layout/list1"/>
    <dgm:cxn modelId="{6034A7A2-F30F-4831-8E91-9EC6948D062C}" type="presParOf" srcId="{F3A08E8A-B110-40EA-8C18-83FF028D796A}" destId="{200C5580-EC10-48B4-9C25-A11FCAE60EFB}" srcOrd="5" destOrd="0" presId="urn:microsoft.com/office/officeart/2005/8/layout/list1"/>
    <dgm:cxn modelId="{E1AFAC1B-9404-4431-A79E-E8E4AA0CE31E}" type="presParOf" srcId="{F3A08E8A-B110-40EA-8C18-83FF028D796A}" destId="{E5D5E496-9766-4709-AD4F-0F0815DE67F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1999D6-0D56-429E-A7A5-8E75C898A9F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5F0410-1E66-4DEF-969A-BC6AF16E01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Interest rates are the strongest and most consistent driver of inflation</a:t>
          </a:r>
          <a:r>
            <a:rPr lang="en-US" b="0" i="0" baseline="0"/>
            <a:t>, outperforming all migration and housing variables.</a:t>
          </a:r>
          <a:endParaRPr lang="en-US"/>
        </a:p>
      </dgm:t>
    </dgm:pt>
    <dgm:pt modelId="{7AEC76F1-BE78-4FBC-9FE2-75DC337A5C59}" type="parTrans" cxnId="{FCDC0037-F907-4F1E-B17C-24181C835E52}">
      <dgm:prSet/>
      <dgm:spPr/>
      <dgm:t>
        <a:bodyPr/>
        <a:lstStyle/>
        <a:p>
          <a:endParaRPr lang="en-US"/>
        </a:p>
      </dgm:t>
    </dgm:pt>
    <dgm:pt modelId="{0B208A6F-3765-4136-A5F7-317A55B06C42}" type="sibTrans" cxnId="{FCDC0037-F907-4F1E-B17C-24181C835E52}">
      <dgm:prSet/>
      <dgm:spPr/>
      <dgm:t>
        <a:bodyPr/>
        <a:lstStyle/>
        <a:p>
          <a:endParaRPr lang="en-US"/>
        </a:p>
      </dgm:t>
    </dgm:pt>
    <dgm:pt modelId="{44449A2F-F01C-4B51-853F-AE19DD3385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Immigration and NPR variables show correlations but lack predictive power</a:t>
          </a:r>
          <a:r>
            <a:rPr lang="en-US" b="0" i="0" baseline="0"/>
            <a:t>—all models fail to generalize out-of-sample.</a:t>
          </a:r>
          <a:endParaRPr lang="en-US"/>
        </a:p>
      </dgm:t>
    </dgm:pt>
    <dgm:pt modelId="{29BB10FE-B37A-496D-8100-6362E904171C}" type="parTrans" cxnId="{C3F6B48A-9C44-4E99-B166-6F3BBC357CFA}">
      <dgm:prSet/>
      <dgm:spPr/>
      <dgm:t>
        <a:bodyPr/>
        <a:lstStyle/>
        <a:p>
          <a:endParaRPr lang="en-US"/>
        </a:p>
      </dgm:t>
    </dgm:pt>
    <dgm:pt modelId="{BD04E344-D2A3-4050-837C-E034963741A7}" type="sibTrans" cxnId="{C3F6B48A-9C44-4E99-B166-6F3BBC357CFA}">
      <dgm:prSet/>
      <dgm:spPr/>
      <dgm:t>
        <a:bodyPr/>
        <a:lstStyle/>
        <a:p>
          <a:endParaRPr lang="en-US"/>
        </a:p>
      </dgm:t>
    </dgm:pt>
    <dgm:pt modelId="{03892092-8877-4B6B-9080-C058C1A1DD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Housing supply lags behind population growth</a:t>
          </a:r>
          <a:r>
            <a:rPr lang="en-US" b="0" i="0" baseline="0"/>
            <a:t>, contributing to Shelter inflation but not strongly to All-items inflation.</a:t>
          </a:r>
          <a:endParaRPr lang="en-US"/>
        </a:p>
      </dgm:t>
    </dgm:pt>
    <dgm:pt modelId="{DC3577EC-6488-4EFF-A12F-0C4C32852684}" type="parTrans" cxnId="{C546A7BB-C562-43F0-A8BD-5DFC65448A99}">
      <dgm:prSet/>
      <dgm:spPr/>
      <dgm:t>
        <a:bodyPr/>
        <a:lstStyle/>
        <a:p>
          <a:endParaRPr lang="en-US"/>
        </a:p>
      </dgm:t>
    </dgm:pt>
    <dgm:pt modelId="{6ABD48A6-2F17-4931-BF24-21BCA733B53F}" type="sibTrans" cxnId="{C546A7BB-C562-43F0-A8BD-5DFC65448A99}">
      <dgm:prSet/>
      <dgm:spPr/>
      <dgm:t>
        <a:bodyPr/>
        <a:lstStyle/>
        <a:p>
          <a:endParaRPr lang="en-US"/>
        </a:p>
      </dgm:t>
    </dgm:pt>
    <dgm:pt modelId="{778D4455-DC7D-46D1-A721-AEC18C29D3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Structural breaks after 2020</a:t>
          </a:r>
          <a:r>
            <a:rPr lang="en-US" b="0" i="0" baseline="0"/>
            <a:t> (NPR surge, rate hikes, supply shocks) disrupt traditional model behavior across provinces.</a:t>
          </a:r>
          <a:endParaRPr lang="en-US"/>
        </a:p>
      </dgm:t>
    </dgm:pt>
    <dgm:pt modelId="{A2253D88-0F87-40A9-A7DF-D3020BEA5E86}" type="parTrans" cxnId="{618DEE9F-E876-4FF3-B560-FEE679BA8D28}">
      <dgm:prSet/>
      <dgm:spPr/>
      <dgm:t>
        <a:bodyPr/>
        <a:lstStyle/>
        <a:p>
          <a:endParaRPr lang="en-US"/>
        </a:p>
      </dgm:t>
    </dgm:pt>
    <dgm:pt modelId="{E716B996-AE38-48EF-88E0-AE5956B0578F}" type="sibTrans" cxnId="{618DEE9F-E876-4FF3-B560-FEE679BA8D28}">
      <dgm:prSet/>
      <dgm:spPr/>
      <dgm:t>
        <a:bodyPr/>
        <a:lstStyle/>
        <a:p>
          <a:endParaRPr lang="en-US"/>
        </a:p>
      </dgm:t>
    </dgm:pt>
    <dgm:pt modelId="{110F5E1B-9B9B-4906-8DDB-14A2F8CACF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Advanced models (XGBoost, ARIMAX, VARMAX) do not yield stable improvements</a:t>
          </a:r>
          <a:r>
            <a:rPr lang="en-US" b="0" i="0" baseline="0"/>
            <a:t>, confirming that the immigration–inflation relationship is weak and unstable.</a:t>
          </a:r>
          <a:endParaRPr lang="en-US"/>
        </a:p>
      </dgm:t>
    </dgm:pt>
    <dgm:pt modelId="{EB0A00F4-31AA-4C59-9514-F5E307185A85}" type="parTrans" cxnId="{D611022A-A88E-4F53-ABD5-F07408A9A7FB}">
      <dgm:prSet/>
      <dgm:spPr/>
      <dgm:t>
        <a:bodyPr/>
        <a:lstStyle/>
        <a:p>
          <a:endParaRPr lang="en-US"/>
        </a:p>
      </dgm:t>
    </dgm:pt>
    <dgm:pt modelId="{30A5A6FC-FC3A-46DD-B2F6-6B9346D4E10A}" type="sibTrans" cxnId="{D611022A-A88E-4F53-ABD5-F07408A9A7FB}">
      <dgm:prSet/>
      <dgm:spPr/>
      <dgm:t>
        <a:bodyPr/>
        <a:lstStyle/>
        <a:p>
          <a:endParaRPr lang="en-US"/>
        </a:p>
      </dgm:t>
    </dgm:pt>
    <dgm:pt modelId="{B5617C93-8D75-4D16-ABC7-C3864FCC1FB6}" type="pres">
      <dgm:prSet presAssocID="{4D1999D6-0D56-429E-A7A5-8E75C898A9FF}" presName="root" presStyleCnt="0">
        <dgm:presLayoutVars>
          <dgm:dir/>
          <dgm:resizeHandles val="exact"/>
        </dgm:presLayoutVars>
      </dgm:prSet>
      <dgm:spPr/>
    </dgm:pt>
    <dgm:pt modelId="{9D346358-3A11-46DC-8E83-D27519E7F685}" type="pres">
      <dgm:prSet presAssocID="{735F0410-1E66-4DEF-969A-BC6AF16E0170}" presName="compNode" presStyleCnt="0"/>
      <dgm:spPr/>
    </dgm:pt>
    <dgm:pt modelId="{8A0F72D7-E050-41F4-9A44-BDA4C04CC801}" type="pres">
      <dgm:prSet presAssocID="{735F0410-1E66-4DEF-969A-BC6AF16E0170}" presName="bgRect" presStyleLbl="bgShp" presStyleIdx="0" presStyleCnt="5"/>
      <dgm:spPr/>
    </dgm:pt>
    <dgm:pt modelId="{A500D6CD-1535-4A2B-8C30-6378D01C8E84}" type="pres">
      <dgm:prSet presAssocID="{735F0410-1E66-4DEF-969A-BC6AF16E017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031F90C7-830F-499B-AE43-E6386680A3BF}" type="pres">
      <dgm:prSet presAssocID="{735F0410-1E66-4DEF-969A-BC6AF16E0170}" presName="spaceRect" presStyleCnt="0"/>
      <dgm:spPr/>
    </dgm:pt>
    <dgm:pt modelId="{531BBCB8-471C-49BC-B449-7467446C1342}" type="pres">
      <dgm:prSet presAssocID="{735F0410-1E66-4DEF-969A-BC6AF16E0170}" presName="parTx" presStyleLbl="revTx" presStyleIdx="0" presStyleCnt="5">
        <dgm:presLayoutVars>
          <dgm:chMax val="0"/>
          <dgm:chPref val="0"/>
        </dgm:presLayoutVars>
      </dgm:prSet>
      <dgm:spPr/>
    </dgm:pt>
    <dgm:pt modelId="{ED8D3C8F-B41E-48CC-9B63-68C23D84BFC7}" type="pres">
      <dgm:prSet presAssocID="{0B208A6F-3765-4136-A5F7-317A55B06C42}" presName="sibTrans" presStyleCnt="0"/>
      <dgm:spPr/>
    </dgm:pt>
    <dgm:pt modelId="{ADCF6A7F-3DF7-475C-9191-A18DA86E199B}" type="pres">
      <dgm:prSet presAssocID="{44449A2F-F01C-4B51-853F-AE19DD33856B}" presName="compNode" presStyleCnt="0"/>
      <dgm:spPr/>
    </dgm:pt>
    <dgm:pt modelId="{A3BA43C6-10F2-4170-B5C7-B285F939314E}" type="pres">
      <dgm:prSet presAssocID="{44449A2F-F01C-4B51-853F-AE19DD33856B}" presName="bgRect" presStyleLbl="bgShp" presStyleIdx="1" presStyleCnt="5"/>
      <dgm:spPr/>
    </dgm:pt>
    <dgm:pt modelId="{49264081-BA60-4AC4-A6E4-89B2E9A7CE9C}" type="pres">
      <dgm:prSet presAssocID="{44449A2F-F01C-4B51-853F-AE19DD33856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05E9E596-6AB2-4A2A-8127-1F0E7760C0F6}" type="pres">
      <dgm:prSet presAssocID="{44449A2F-F01C-4B51-853F-AE19DD33856B}" presName="spaceRect" presStyleCnt="0"/>
      <dgm:spPr/>
    </dgm:pt>
    <dgm:pt modelId="{5E5F3F75-DA44-4BD9-8942-B627F1E8B484}" type="pres">
      <dgm:prSet presAssocID="{44449A2F-F01C-4B51-853F-AE19DD33856B}" presName="parTx" presStyleLbl="revTx" presStyleIdx="1" presStyleCnt="5">
        <dgm:presLayoutVars>
          <dgm:chMax val="0"/>
          <dgm:chPref val="0"/>
        </dgm:presLayoutVars>
      </dgm:prSet>
      <dgm:spPr/>
    </dgm:pt>
    <dgm:pt modelId="{3560084E-354F-4F69-8624-57C00F88C8DE}" type="pres">
      <dgm:prSet presAssocID="{BD04E344-D2A3-4050-837C-E034963741A7}" presName="sibTrans" presStyleCnt="0"/>
      <dgm:spPr/>
    </dgm:pt>
    <dgm:pt modelId="{FCEDFB61-0ADB-4F50-A311-9B9C3333FF89}" type="pres">
      <dgm:prSet presAssocID="{03892092-8877-4B6B-9080-C058C1A1DDFA}" presName="compNode" presStyleCnt="0"/>
      <dgm:spPr/>
    </dgm:pt>
    <dgm:pt modelId="{B55AEA50-16C7-4566-9FFC-A2568B17DF43}" type="pres">
      <dgm:prSet presAssocID="{03892092-8877-4B6B-9080-C058C1A1DDFA}" presName="bgRect" presStyleLbl="bgShp" presStyleIdx="2" presStyleCnt="5"/>
      <dgm:spPr/>
    </dgm:pt>
    <dgm:pt modelId="{019328C2-D614-4625-BA87-BC512E8B636E}" type="pres">
      <dgm:prSet presAssocID="{03892092-8877-4B6B-9080-C058C1A1DDF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280B2C8-54A0-4AB2-9BC9-F81523B30E42}" type="pres">
      <dgm:prSet presAssocID="{03892092-8877-4B6B-9080-C058C1A1DDFA}" presName="spaceRect" presStyleCnt="0"/>
      <dgm:spPr/>
    </dgm:pt>
    <dgm:pt modelId="{5937DCC2-1E38-4820-B129-F4873F7CB439}" type="pres">
      <dgm:prSet presAssocID="{03892092-8877-4B6B-9080-C058C1A1DDFA}" presName="parTx" presStyleLbl="revTx" presStyleIdx="2" presStyleCnt="5">
        <dgm:presLayoutVars>
          <dgm:chMax val="0"/>
          <dgm:chPref val="0"/>
        </dgm:presLayoutVars>
      </dgm:prSet>
      <dgm:spPr/>
    </dgm:pt>
    <dgm:pt modelId="{1EDDC746-DB8C-483B-8DEE-0CC9C687F190}" type="pres">
      <dgm:prSet presAssocID="{6ABD48A6-2F17-4931-BF24-21BCA733B53F}" presName="sibTrans" presStyleCnt="0"/>
      <dgm:spPr/>
    </dgm:pt>
    <dgm:pt modelId="{D5D17774-C8FF-43D1-9AE4-E60693DFFB6B}" type="pres">
      <dgm:prSet presAssocID="{778D4455-DC7D-46D1-A721-AEC18C29D326}" presName="compNode" presStyleCnt="0"/>
      <dgm:spPr/>
    </dgm:pt>
    <dgm:pt modelId="{67218C19-1BE0-4643-88F4-F628FB50A7F8}" type="pres">
      <dgm:prSet presAssocID="{778D4455-DC7D-46D1-A721-AEC18C29D326}" presName="bgRect" presStyleLbl="bgShp" presStyleIdx="3" presStyleCnt="5"/>
      <dgm:spPr/>
    </dgm:pt>
    <dgm:pt modelId="{F33653B3-9069-463D-8BFF-F8636DEC915C}" type="pres">
      <dgm:prSet presAssocID="{778D4455-DC7D-46D1-A721-AEC18C29D32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38939602-25FB-43C0-BF9B-DAC6A2824322}" type="pres">
      <dgm:prSet presAssocID="{778D4455-DC7D-46D1-A721-AEC18C29D326}" presName="spaceRect" presStyleCnt="0"/>
      <dgm:spPr/>
    </dgm:pt>
    <dgm:pt modelId="{02F19623-5C20-47C0-9139-95CAE36DE7EC}" type="pres">
      <dgm:prSet presAssocID="{778D4455-DC7D-46D1-A721-AEC18C29D326}" presName="parTx" presStyleLbl="revTx" presStyleIdx="3" presStyleCnt="5">
        <dgm:presLayoutVars>
          <dgm:chMax val="0"/>
          <dgm:chPref val="0"/>
        </dgm:presLayoutVars>
      </dgm:prSet>
      <dgm:spPr/>
    </dgm:pt>
    <dgm:pt modelId="{D74AB4EA-69E6-4AF2-A050-372A80C80856}" type="pres">
      <dgm:prSet presAssocID="{E716B996-AE38-48EF-88E0-AE5956B0578F}" presName="sibTrans" presStyleCnt="0"/>
      <dgm:spPr/>
    </dgm:pt>
    <dgm:pt modelId="{30E01550-6D5C-479A-97F1-AD82A4E71F87}" type="pres">
      <dgm:prSet presAssocID="{110F5E1B-9B9B-4906-8DDB-14A2F8CACFB2}" presName="compNode" presStyleCnt="0"/>
      <dgm:spPr/>
    </dgm:pt>
    <dgm:pt modelId="{98D6F1E5-4A5E-4B38-BCBF-FD75808AC25D}" type="pres">
      <dgm:prSet presAssocID="{110F5E1B-9B9B-4906-8DDB-14A2F8CACFB2}" presName="bgRect" presStyleLbl="bgShp" presStyleIdx="4" presStyleCnt="5"/>
      <dgm:spPr/>
    </dgm:pt>
    <dgm:pt modelId="{64785293-617E-43B7-9006-4F2D494BF3DE}" type="pres">
      <dgm:prSet presAssocID="{110F5E1B-9B9B-4906-8DDB-14A2F8CACFB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95345D39-9C2A-4E7E-A596-EC5B88A25AF2}" type="pres">
      <dgm:prSet presAssocID="{110F5E1B-9B9B-4906-8DDB-14A2F8CACFB2}" presName="spaceRect" presStyleCnt="0"/>
      <dgm:spPr/>
    </dgm:pt>
    <dgm:pt modelId="{226358DE-2DC4-4830-8BDD-5E1045E232A4}" type="pres">
      <dgm:prSet presAssocID="{110F5E1B-9B9B-4906-8DDB-14A2F8CACFB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70DCC1C-C076-4FB2-B995-7410FBD9C305}" type="presOf" srcId="{44449A2F-F01C-4B51-853F-AE19DD33856B}" destId="{5E5F3F75-DA44-4BD9-8942-B627F1E8B484}" srcOrd="0" destOrd="0" presId="urn:microsoft.com/office/officeart/2018/2/layout/IconVerticalSolidList"/>
    <dgm:cxn modelId="{B73FDA22-013A-4950-BADB-967E7AAC145D}" type="presOf" srcId="{735F0410-1E66-4DEF-969A-BC6AF16E0170}" destId="{531BBCB8-471C-49BC-B449-7467446C1342}" srcOrd="0" destOrd="0" presId="urn:microsoft.com/office/officeart/2018/2/layout/IconVerticalSolidList"/>
    <dgm:cxn modelId="{D611022A-A88E-4F53-ABD5-F07408A9A7FB}" srcId="{4D1999D6-0D56-429E-A7A5-8E75C898A9FF}" destId="{110F5E1B-9B9B-4906-8DDB-14A2F8CACFB2}" srcOrd="4" destOrd="0" parTransId="{EB0A00F4-31AA-4C59-9514-F5E307185A85}" sibTransId="{30A5A6FC-FC3A-46DD-B2F6-6B9346D4E10A}"/>
    <dgm:cxn modelId="{FCDC0037-F907-4F1E-B17C-24181C835E52}" srcId="{4D1999D6-0D56-429E-A7A5-8E75C898A9FF}" destId="{735F0410-1E66-4DEF-969A-BC6AF16E0170}" srcOrd="0" destOrd="0" parTransId="{7AEC76F1-BE78-4FBC-9FE2-75DC337A5C59}" sibTransId="{0B208A6F-3765-4136-A5F7-317A55B06C42}"/>
    <dgm:cxn modelId="{F6162340-CF6D-49B8-9DB9-131423674BFD}" type="presOf" srcId="{778D4455-DC7D-46D1-A721-AEC18C29D326}" destId="{02F19623-5C20-47C0-9139-95CAE36DE7EC}" srcOrd="0" destOrd="0" presId="urn:microsoft.com/office/officeart/2018/2/layout/IconVerticalSolidList"/>
    <dgm:cxn modelId="{E741D642-023D-4227-B4D1-F527801C4EB3}" type="presOf" srcId="{110F5E1B-9B9B-4906-8DDB-14A2F8CACFB2}" destId="{226358DE-2DC4-4830-8BDD-5E1045E232A4}" srcOrd="0" destOrd="0" presId="urn:microsoft.com/office/officeart/2018/2/layout/IconVerticalSolidList"/>
    <dgm:cxn modelId="{C3F6B48A-9C44-4E99-B166-6F3BBC357CFA}" srcId="{4D1999D6-0D56-429E-A7A5-8E75C898A9FF}" destId="{44449A2F-F01C-4B51-853F-AE19DD33856B}" srcOrd="1" destOrd="0" parTransId="{29BB10FE-B37A-496D-8100-6362E904171C}" sibTransId="{BD04E344-D2A3-4050-837C-E034963741A7}"/>
    <dgm:cxn modelId="{618DEE9F-E876-4FF3-B560-FEE679BA8D28}" srcId="{4D1999D6-0D56-429E-A7A5-8E75C898A9FF}" destId="{778D4455-DC7D-46D1-A721-AEC18C29D326}" srcOrd="3" destOrd="0" parTransId="{A2253D88-0F87-40A9-A7DF-D3020BEA5E86}" sibTransId="{E716B996-AE38-48EF-88E0-AE5956B0578F}"/>
    <dgm:cxn modelId="{39E5EFA5-29DA-4215-8957-A01B5C300475}" type="presOf" srcId="{4D1999D6-0D56-429E-A7A5-8E75C898A9FF}" destId="{B5617C93-8D75-4D16-ABC7-C3864FCC1FB6}" srcOrd="0" destOrd="0" presId="urn:microsoft.com/office/officeart/2018/2/layout/IconVerticalSolidList"/>
    <dgm:cxn modelId="{C546A7BB-C562-43F0-A8BD-5DFC65448A99}" srcId="{4D1999D6-0D56-429E-A7A5-8E75C898A9FF}" destId="{03892092-8877-4B6B-9080-C058C1A1DDFA}" srcOrd="2" destOrd="0" parTransId="{DC3577EC-6488-4EFF-A12F-0C4C32852684}" sibTransId="{6ABD48A6-2F17-4931-BF24-21BCA733B53F}"/>
    <dgm:cxn modelId="{AF6267E7-0DD2-474E-9A7B-CF49F5825B17}" type="presOf" srcId="{03892092-8877-4B6B-9080-C058C1A1DDFA}" destId="{5937DCC2-1E38-4820-B129-F4873F7CB439}" srcOrd="0" destOrd="0" presId="urn:microsoft.com/office/officeart/2018/2/layout/IconVerticalSolidList"/>
    <dgm:cxn modelId="{BB3B9489-D5D7-47C9-9CFA-4557D0B8F9AE}" type="presParOf" srcId="{B5617C93-8D75-4D16-ABC7-C3864FCC1FB6}" destId="{9D346358-3A11-46DC-8E83-D27519E7F685}" srcOrd="0" destOrd="0" presId="urn:microsoft.com/office/officeart/2018/2/layout/IconVerticalSolidList"/>
    <dgm:cxn modelId="{D3FDE9AD-1B58-41B5-A42A-6FA8627C5D91}" type="presParOf" srcId="{9D346358-3A11-46DC-8E83-D27519E7F685}" destId="{8A0F72D7-E050-41F4-9A44-BDA4C04CC801}" srcOrd="0" destOrd="0" presId="urn:microsoft.com/office/officeart/2018/2/layout/IconVerticalSolidList"/>
    <dgm:cxn modelId="{2F780949-1708-43F3-BA9F-55F6FBF37BF5}" type="presParOf" srcId="{9D346358-3A11-46DC-8E83-D27519E7F685}" destId="{A500D6CD-1535-4A2B-8C30-6378D01C8E84}" srcOrd="1" destOrd="0" presId="urn:microsoft.com/office/officeart/2018/2/layout/IconVerticalSolidList"/>
    <dgm:cxn modelId="{67B6A463-656D-4E05-8689-8D670C604655}" type="presParOf" srcId="{9D346358-3A11-46DC-8E83-D27519E7F685}" destId="{031F90C7-830F-499B-AE43-E6386680A3BF}" srcOrd="2" destOrd="0" presId="urn:microsoft.com/office/officeart/2018/2/layout/IconVerticalSolidList"/>
    <dgm:cxn modelId="{15806C4C-E326-4D89-B130-F1EFC0DCF303}" type="presParOf" srcId="{9D346358-3A11-46DC-8E83-D27519E7F685}" destId="{531BBCB8-471C-49BC-B449-7467446C1342}" srcOrd="3" destOrd="0" presId="urn:microsoft.com/office/officeart/2018/2/layout/IconVerticalSolidList"/>
    <dgm:cxn modelId="{2692643F-0E08-44E4-B079-BBD5A9F9B449}" type="presParOf" srcId="{B5617C93-8D75-4D16-ABC7-C3864FCC1FB6}" destId="{ED8D3C8F-B41E-48CC-9B63-68C23D84BFC7}" srcOrd="1" destOrd="0" presId="urn:microsoft.com/office/officeart/2018/2/layout/IconVerticalSolidList"/>
    <dgm:cxn modelId="{E36CE379-0CCA-42BA-9F83-76E61DD62D82}" type="presParOf" srcId="{B5617C93-8D75-4D16-ABC7-C3864FCC1FB6}" destId="{ADCF6A7F-3DF7-475C-9191-A18DA86E199B}" srcOrd="2" destOrd="0" presId="urn:microsoft.com/office/officeart/2018/2/layout/IconVerticalSolidList"/>
    <dgm:cxn modelId="{8B2A1AE5-BF79-4B20-874C-AC438D77AE9A}" type="presParOf" srcId="{ADCF6A7F-3DF7-475C-9191-A18DA86E199B}" destId="{A3BA43C6-10F2-4170-B5C7-B285F939314E}" srcOrd="0" destOrd="0" presId="urn:microsoft.com/office/officeart/2018/2/layout/IconVerticalSolidList"/>
    <dgm:cxn modelId="{5C10EBE4-6C1C-4B1B-8F8E-04B76613A57A}" type="presParOf" srcId="{ADCF6A7F-3DF7-475C-9191-A18DA86E199B}" destId="{49264081-BA60-4AC4-A6E4-89B2E9A7CE9C}" srcOrd="1" destOrd="0" presId="urn:microsoft.com/office/officeart/2018/2/layout/IconVerticalSolidList"/>
    <dgm:cxn modelId="{261BC7EB-3B80-4CFD-B640-A403E5A5128E}" type="presParOf" srcId="{ADCF6A7F-3DF7-475C-9191-A18DA86E199B}" destId="{05E9E596-6AB2-4A2A-8127-1F0E7760C0F6}" srcOrd="2" destOrd="0" presId="urn:microsoft.com/office/officeart/2018/2/layout/IconVerticalSolidList"/>
    <dgm:cxn modelId="{4E263498-3690-4739-A6BA-0F833717F8B4}" type="presParOf" srcId="{ADCF6A7F-3DF7-475C-9191-A18DA86E199B}" destId="{5E5F3F75-DA44-4BD9-8942-B627F1E8B484}" srcOrd="3" destOrd="0" presId="urn:microsoft.com/office/officeart/2018/2/layout/IconVerticalSolidList"/>
    <dgm:cxn modelId="{2C7543EA-F903-47A8-9476-220132A44321}" type="presParOf" srcId="{B5617C93-8D75-4D16-ABC7-C3864FCC1FB6}" destId="{3560084E-354F-4F69-8624-57C00F88C8DE}" srcOrd="3" destOrd="0" presId="urn:microsoft.com/office/officeart/2018/2/layout/IconVerticalSolidList"/>
    <dgm:cxn modelId="{9C216897-2A0E-4E94-AB4C-8FBD69507B50}" type="presParOf" srcId="{B5617C93-8D75-4D16-ABC7-C3864FCC1FB6}" destId="{FCEDFB61-0ADB-4F50-A311-9B9C3333FF89}" srcOrd="4" destOrd="0" presId="urn:microsoft.com/office/officeart/2018/2/layout/IconVerticalSolidList"/>
    <dgm:cxn modelId="{990174EB-F5F3-43C0-AA79-3A45C3721A79}" type="presParOf" srcId="{FCEDFB61-0ADB-4F50-A311-9B9C3333FF89}" destId="{B55AEA50-16C7-4566-9FFC-A2568B17DF43}" srcOrd="0" destOrd="0" presId="urn:microsoft.com/office/officeart/2018/2/layout/IconVerticalSolidList"/>
    <dgm:cxn modelId="{6A197BF7-A5B2-4260-8060-310A0955451F}" type="presParOf" srcId="{FCEDFB61-0ADB-4F50-A311-9B9C3333FF89}" destId="{019328C2-D614-4625-BA87-BC512E8B636E}" srcOrd="1" destOrd="0" presId="urn:microsoft.com/office/officeart/2018/2/layout/IconVerticalSolidList"/>
    <dgm:cxn modelId="{A5C616B4-038D-47DE-AFFF-D7F1A4CE6F36}" type="presParOf" srcId="{FCEDFB61-0ADB-4F50-A311-9B9C3333FF89}" destId="{E280B2C8-54A0-4AB2-9BC9-F81523B30E42}" srcOrd="2" destOrd="0" presId="urn:microsoft.com/office/officeart/2018/2/layout/IconVerticalSolidList"/>
    <dgm:cxn modelId="{646A4EC7-C911-4877-954F-C13D4A889489}" type="presParOf" srcId="{FCEDFB61-0ADB-4F50-A311-9B9C3333FF89}" destId="{5937DCC2-1E38-4820-B129-F4873F7CB439}" srcOrd="3" destOrd="0" presId="urn:microsoft.com/office/officeart/2018/2/layout/IconVerticalSolidList"/>
    <dgm:cxn modelId="{6621F392-D35B-4976-922A-93CB4A003317}" type="presParOf" srcId="{B5617C93-8D75-4D16-ABC7-C3864FCC1FB6}" destId="{1EDDC746-DB8C-483B-8DEE-0CC9C687F190}" srcOrd="5" destOrd="0" presId="urn:microsoft.com/office/officeart/2018/2/layout/IconVerticalSolidList"/>
    <dgm:cxn modelId="{760CC10A-4EA2-4DFF-B9BD-9CD6048489F4}" type="presParOf" srcId="{B5617C93-8D75-4D16-ABC7-C3864FCC1FB6}" destId="{D5D17774-C8FF-43D1-9AE4-E60693DFFB6B}" srcOrd="6" destOrd="0" presId="urn:microsoft.com/office/officeart/2018/2/layout/IconVerticalSolidList"/>
    <dgm:cxn modelId="{AADFE6B2-0BA1-496F-8DC3-98C3149C08FA}" type="presParOf" srcId="{D5D17774-C8FF-43D1-9AE4-E60693DFFB6B}" destId="{67218C19-1BE0-4643-88F4-F628FB50A7F8}" srcOrd="0" destOrd="0" presId="urn:microsoft.com/office/officeart/2018/2/layout/IconVerticalSolidList"/>
    <dgm:cxn modelId="{B7CB96E5-B464-4BF5-870F-27E6E24AC94E}" type="presParOf" srcId="{D5D17774-C8FF-43D1-9AE4-E60693DFFB6B}" destId="{F33653B3-9069-463D-8BFF-F8636DEC915C}" srcOrd="1" destOrd="0" presId="urn:microsoft.com/office/officeart/2018/2/layout/IconVerticalSolidList"/>
    <dgm:cxn modelId="{6B9F1C46-0F5D-4837-9980-B82F3FBEABA3}" type="presParOf" srcId="{D5D17774-C8FF-43D1-9AE4-E60693DFFB6B}" destId="{38939602-25FB-43C0-BF9B-DAC6A2824322}" srcOrd="2" destOrd="0" presId="urn:microsoft.com/office/officeart/2018/2/layout/IconVerticalSolidList"/>
    <dgm:cxn modelId="{8F5A07AE-B4B9-45C8-9657-C5C718B52FAC}" type="presParOf" srcId="{D5D17774-C8FF-43D1-9AE4-E60693DFFB6B}" destId="{02F19623-5C20-47C0-9139-95CAE36DE7EC}" srcOrd="3" destOrd="0" presId="urn:microsoft.com/office/officeart/2018/2/layout/IconVerticalSolidList"/>
    <dgm:cxn modelId="{A63D2F74-8265-485D-94A0-CB1886778AAA}" type="presParOf" srcId="{B5617C93-8D75-4D16-ABC7-C3864FCC1FB6}" destId="{D74AB4EA-69E6-4AF2-A050-372A80C80856}" srcOrd="7" destOrd="0" presId="urn:microsoft.com/office/officeart/2018/2/layout/IconVerticalSolidList"/>
    <dgm:cxn modelId="{5AB24BDC-1B3B-46FF-B939-8D025D4C3756}" type="presParOf" srcId="{B5617C93-8D75-4D16-ABC7-C3864FCC1FB6}" destId="{30E01550-6D5C-479A-97F1-AD82A4E71F87}" srcOrd="8" destOrd="0" presId="urn:microsoft.com/office/officeart/2018/2/layout/IconVerticalSolidList"/>
    <dgm:cxn modelId="{2CCD2D5D-327B-4D07-A5F2-87154E78CE4E}" type="presParOf" srcId="{30E01550-6D5C-479A-97F1-AD82A4E71F87}" destId="{98D6F1E5-4A5E-4B38-BCBF-FD75808AC25D}" srcOrd="0" destOrd="0" presId="urn:microsoft.com/office/officeart/2018/2/layout/IconVerticalSolidList"/>
    <dgm:cxn modelId="{ED59FFD0-31E1-4F57-B7BC-7EE9DE648BC3}" type="presParOf" srcId="{30E01550-6D5C-479A-97F1-AD82A4E71F87}" destId="{64785293-617E-43B7-9006-4F2D494BF3DE}" srcOrd="1" destOrd="0" presId="urn:microsoft.com/office/officeart/2018/2/layout/IconVerticalSolidList"/>
    <dgm:cxn modelId="{1E2CDFFD-6AD3-4E55-BA09-BBD615AA21FC}" type="presParOf" srcId="{30E01550-6D5C-479A-97F1-AD82A4E71F87}" destId="{95345D39-9C2A-4E7E-A596-EC5B88A25AF2}" srcOrd="2" destOrd="0" presId="urn:microsoft.com/office/officeart/2018/2/layout/IconVerticalSolidList"/>
    <dgm:cxn modelId="{10C5FF23-BDD8-429F-BAD7-F4CA8D48DFCE}" type="presParOf" srcId="{30E01550-6D5C-479A-97F1-AD82A4E71F87}" destId="{226358DE-2DC4-4830-8BDD-5E1045E232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1DBC80-3EEE-4A10-A906-76C568D54727}">
      <dsp:nvSpPr>
        <dsp:cNvPr id="0" name=""/>
        <dsp:cNvSpPr/>
      </dsp:nvSpPr>
      <dsp:spPr>
        <a:xfrm>
          <a:off x="0" y="536022"/>
          <a:ext cx="6666833" cy="2573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95732" rIns="51742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b="1" kern="1200"/>
            <a:t>Growth Rates (YoY):</a:t>
          </a:r>
          <a:r>
            <a:rPr lang="en-IN" sz="1900" kern="1200"/>
            <a:t> population, immigration, NPR, housing starts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b="1" kern="1200"/>
            <a:t>Per-Capita Ratios:</a:t>
          </a:r>
          <a:r>
            <a:rPr lang="en-IN" sz="1900" kern="1200"/>
            <a:t> immigrants per 10k, NPR per 10k, housing starts per 10k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b="1" kern="1200"/>
            <a:t>Pressure Ratio:</a:t>
          </a:r>
          <a:r>
            <a:rPr lang="en-IN" sz="1900" kern="1200"/>
            <a:t> (immigrants + NPR) ÷ housing starts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b="1" kern="1200"/>
            <a:t>Lagged Variables:</a:t>
          </a:r>
          <a:r>
            <a:rPr lang="en-IN" sz="1900" kern="1200"/>
            <a:t> 2-quarter lags for migration &amp; rates, 4-quarter lag for housing supply</a:t>
          </a:r>
          <a:endParaRPr lang="en-US" sz="1900" kern="1200"/>
        </a:p>
      </dsp:txBody>
      <dsp:txXfrm>
        <a:off x="0" y="536022"/>
        <a:ext cx="6666833" cy="2573550"/>
      </dsp:txXfrm>
    </dsp:sp>
    <dsp:sp modelId="{4AAE8EFD-0E75-497F-A71C-65DB810E3CE5}">
      <dsp:nvSpPr>
        <dsp:cNvPr id="0" name=""/>
        <dsp:cNvSpPr/>
      </dsp:nvSpPr>
      <dsp:spPr>
        <a:xfrm>
          <a:off x="333341" y="255582"/>
          <a:ext cx="4666783" cy="560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Key Feature Groups</a:t>
          </a:r>
          <a:endParaRPr lang="en-US" sz="1900" kern="1200"/>
        </a:p>
      </dsp:txBody>
      <dsp:txXfrm>
        <a:off x="360721" y="282962"/>
        <a:ext cx="4612023" cy="506120"/>
      </dsp:txXfrm>
    </dsp:sp>
    <dsp:sp modelId="{E5D5E496-9766-4709-AD4F-0F0815DE67F9}">
      <dsp:nvSpPr>
        <dsp:cNvPr id="0" name=""/>
        <dsp:cNvSpPr/>
      </dsp:nvSpPr>
      <dsp:spPr>
        <a:xfrm>
          <a:off x="0" y="3492612"/>
          <a:ext cx="6666833" cy="17057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95732" rIns="51742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Capture </a:t>
          </a:r>
          <a:r>
            <a:rPr lang="en-IN" sz="1900" b="1" kern="1200"/>
            <a:t>demand–supply imbalance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Reflect </a:t>
          </a:r>
          <a:r>
            <a:rPr lang="en-IN" sz="1900" b="1" kern="1200"/>
            <a:t>real economic delays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Enable models to test whether </a:t>
          </a:r>
          <a:r>
            <a:rPr lang="en-IN" sz="1900" b="1" kern="1200"/>
            <a:t>migration and housing dynamics</a:t>
          </a:r>
          <a:r>
            <a:rPr lang="en-IN" sz="1900" kern="1200"/>
            <a:t> influence inflation</a:t>
          </a:r>
          <a:endParaRPr lang="en-US" sz="1900" kern="1200"/>
        </a:p>
      </dsp:txBody>
      <dsp:txXfrm>
        <a:off x="0" y="3492612"/>
        <a:ext cx="6666833" cy="1705725"/>
      </dsp:txXfrm>
    </dsp:sp>
    <dsp:sp modelId="{0F20461C-4B18-4DA6-B630-3E2D58DB5EDE}">
      <dsp:nvSpPr>
        <dsp:cNvPr id="0" name=""/>
        <dsp:cNvSpPr/>
      </dsp:nvSpPr>
      <dsp:spPr>
        <a:xfrm>
          <a:off x="333341" y="3212172"/>
          <a:ext cx="4666783" cy="5608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Purpose</a:t>
          </a:r>
          <a:endParaRPr lang="en-US" sz="1900" kern="1200"/>
        </a:p>
      </dsp:txBody>
      <dsp:txXfrm>
        <a:off x="360721" y="3239552"/>
        <a:ext cx="4612023" cy="506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0F72D7-E050-41F4-9A44-BDA4C04CC801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00D6CD-1535-4A2B-8C30-6378D01C8E84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1BBCB8-471C-49BC-B449-7467446C1342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Interest rates are the strongest and most consistent driver of inflation</a:t>
          </a:r>
          <a:r>
            <a:rPr lang="en-US" sz="1800" b="0" i="0" kern="1200" baseline="0"/>
            <a:t>, outperforming all migration and housing variables.</a:t>
          </a:r>
          <a:endParaRPr lang="en-US" sz="1800" kern="1200"/>
        </a:p>
      </dsp:txBody>
      <dsp:txXfrm>
        <a:off x="836323" y="3399"/>
        <a:ext cx="9679276" cy="724089"/>
      </dsp:txXfrm>
    </dsp:sp>
    <dsp:sp modelId="{A3BA43C6-10F2-4170-B5C7-B285F939314E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264081-BA60-4AC4-A6E4-89B2E9A7CE9C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F3F75-DA44-4BD9-8942-B627F1E8B484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Immigration and NPR variables show correlations but lack predictive power</a:t>
          </a:r>
          <a:r>
            <a:rPr lang="en-US" sz="1800" b="0" i="0" kern="1200" baseline="0"/>
            <a:t>—all models fail to generalize out-of-sample.</a:t>
          </a:r>
          <a:endParaRPr lang="en-US" sz="1800" kern="1200"/>
        </a:p>
      </dsp:txBody>
      <dsp:txXfrm>
        <a:off x="836323" y="908511"/>
        <a:ext cx="9679276" cy="724089"/>
      </dsp:txXfrm>
    </dsp:sp>
    <dsp:sp modelId="{B55AEA50-16C7-4566-9FFC-A2568B17DF43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9328C2-D614-4625-BA87-BC512E8B636E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37DCC2-1E38-4820-B129-F4873F7CB439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Housing supply lags behind population growth</a:t>
          </a:r>
          <a:r>
            <a:rPr lang="en-US" sz="1800" b="0" i="0" kern="1200" baseline="0"/>
            <a:t>, contributing to Shelter inflation but not strongly to All-items inflation.</a:t>
          </a:r>
          <a:endParaRPr lang="en-US" sz="1800" kern="1200"/>
        </a:p>
      </dsp:txBody>
      <dsp:txXfrm>
        <a:off x="836323" y="1813624"/>
        <a:ext cx="9679276" cy="724089"/>
      </dsp:txXfrm>
    </dsp:sp>
    <dsp:sp modelId="{67218C19-1BE0-4643-88F4-F628FB50A7F8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3653B3-9069-463D-8BFF-F8636DEC915C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19623-5C20-47C0-9139-95CAE36DE7EC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Structural breaks after 2020</a:t>
          </a:r>
          <a:r>
            <a:rPr lang="en-US" sz="1800" b="0" i="0" kern="1200" baseline="0"/>
            <a:t> (NPR surge, rate hikes, supply shocks) disrupt traditional model behavior across provinces.</a:t>
          </a:r>
          <a:endParaRPr lang="en-US" sz="1800" kern="1200"/>
        </a:p>
      </dsp:txBody>
      <dsp:txXfrm>
        <a:off x="836323" y="2718736"/>
        <a:ext cx="9679276" cy="724089"/>
      </dsp:txXfrm>
    </dsp:sp>
    <dsp:sp modelId="{98D6F1E5-4A5E-4B38-BCBF-FD75808AC25D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785293-617E-43B7-9006-4F2D494BF3DE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6358DE-2DC4-4830-8BDD-5E1045E232A4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Advanced models (XGBoost, ARIMAX, VARMAX) do not yield stable improvements</a:t>
          </a:r>
          <a:r>
            <a:rPr lang="en-US" sz="1800" b="0" i="0" kern="1200" baseline="0"/>
            <a:t>, confirming that the immigration–inflation relationship is weak and unstable.</a:t>
          </a:r>
          <a:endParaRPr lang="en-US" sz="1800" kern="1200"/>
        </a:p>
      </dsp:txBody>
      <dsp:txXfrm>
        <a:off x="836323" y="3623848"/>
        <a:ext cx="9679276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58C29-7DC2-56A7-A3A0-4B8398B50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456E7-5EAB-DA4B-A6E6-F4B441562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C3703-72FA-3E86-0DAF-C38868FF9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4347-9C96-4E39-911B-63F0134FC3C0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6FF90-102A-77BB-F345-A6A98B7F5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987B9-E4DE-8E87-B2ED-1B972CC61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AA7E7-AD3A-45B5-9561-4E42F3929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506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D155D-FDB4-4190-DD75-E00DDBD6F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D8C69-E613-7EF2-243A-AF8355888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60758-C936-F5B9-9D73-699C644FF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4347-9C96-4E39-911B-63F0134FC3C0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7456E-3649-2BDE-AF09-AD9C2E73D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0587B-FA96-0F06-206C-1965DC791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AA7E7-AD3A-45B5-9561-4E42F3929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91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D2D1F-5E56-69FC-2EBF-F27BD4855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039BD-6CC4-1C7D-8099-0B0695D9D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38BC4-0D1D-94AC-664C-DE4269A3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4347-9C96-4E39-911B-63F0134FC3C0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495BE-0379-48A9-E006-5C0C99F36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81DEA-5FAD-700E-0E21-87F2E809C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AA7E7-AD3A-45B5-9561-4E42F3929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334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BA6E0-BEF5-1B59-4377-467E296C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6CA64-1D84-D1B8-4043-8F7431778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0D689-0765-1225-AC55-49201BD1D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2A44E-DAE8-8952-E8E7-3C6A70359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4347-9C96-4E39-911B-63F0134FC3C0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89482-AD74-F9C6-5059-2DF902F0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12EC4-20D2-33DE-CA32-A08F3EC1A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AA7E7-AD3A-45B5-9561-4E42F3929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593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6B429-435C-308D-BD0F-2F74D53F7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1EC5E-F26E-4ABC-2462-44414D99C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C3A01-11AE-3FCD-F217-B8DDAE42B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483DB-D766-9B80-7B14-F60465D2A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4008B6-17F0-4E4B-8325-FF9C6D2AD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86961F-BD1D-11A7-107C-D3A4BB909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4347-9C96-4E39-911B-63F0134FC3C0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76FA21-3164-A737-4141-76A1367F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8C40E1-E72A-57AE-F85B-FDBA19825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AA7E7-AD3A-45B5-9561-4E42F3929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870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778D5-CB74-C5DA-3569-FA9AE7DBE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D84336-E866-8174-F664-C8EA1093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4347-9C96-4E39-911B-63F0134FC3C0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C5B18-FE6B-5C5C-55F3-2ED01E303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BFB4F-255B-5FBD-3AFB-358CB1BD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AA7E7-AD3A-45B5-9561-4E42F3929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12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0A8EF-846E-B900-6159-83EC7DD5B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4347-9C96-4E39-911B-63F0134FC3C0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893D25-002A-20E6-3F64-BC4072F9B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E67FC-04C2-F79C-63F3-27DC8E67B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AA7E7-AD3A-45B5-9561-4E42F3929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186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55013-FCC8-3280-0061-57A6DE57D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35A47-4C35-2E0E-DC3B-538B434BF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65C0C-4DAD-0E25-4A1B-3CCB97D3F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D6F03-EF08-8BFE-D712-658360D9A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4347-9C96-4E39-911B-63F0134FC3C0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58C62-C6D9-5044-1776-82AFB156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C382C-DF22-A80F-DD60-D0E07ECD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AA7E7-AD3A-45B5-9561-4E42F3929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835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F7070-ED1F-B41D-C030-0DCCAB973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B970A-C662-3FBE-4A05-35938BDEA1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DC7B7-1AA4-F29C-68B9-0A3BB6620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61F0F-8C6C-E39B-929A-C11B4FC17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4347-9C96-4E39-911B-63F0134FC3C0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2A956-25B2-8A76-70F8-75616DA85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A5708-4849-CCE6-5965-716F59844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AA7E7-AD3A-45B5-9561-4E42F3929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754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CF30A-E85B-5F2B-9341-91D07D230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AA72F-78DE-AAC8-2108-21BBC6640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1E560-DD5C-9594-116E-0F496825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4347-9C96-4E39-911B-63F0134FC3C0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4F3A1-E1CF-8349-0DC7-ECB99249B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2960E-F036-006A-8511-6491EB198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AA7E7-AD3A-45B5-9561-4E42F3929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204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3FDBB3-5B74-D279-475E-D1D5C9F8DB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57982E-AB18-C04A-EA52-76F97AD8B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1B221-3F95-41A7-FBB3-53CC13438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04347-9C96-4E39-911B-63F0134FC3C0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C926D-2A0A-81F6-E293-9885D389F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8C1AB-01D7-BDDE-E5F1-67E24E94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AA7E7-AD3A-45B5-9561-4E42F3929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597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51A61E-F0E5-CE55-861E-FEE863F2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4EBAA-24A8-3DB8-A7D8-8E70E9191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A271A-50B7-27D1-9BAB-7000B6C60A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04347-9C96-4E39-911B-63F0134FC3C0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41741-7723-F125-2BFA-6B02EA71B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FC222-2944-0EF1-E4C8-234FD8DE7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AA7E7-AD3A-45B5-9561-4E42F3929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696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1"/>
            <a:ext cx="12191990" cy="37425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85278C-583B-C209-1F8A-214B5AD34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558" y="637763"/>
            <a:ext cx="9889797" cy="2874471"/>
          </a:xfrm>
        </p:spPr>
        <p:txBody>
          <a:bodyPr anchor="ctr">
            <a:normAutofit/>
          </a:bodyPr>
          <a:lstStyle/>
          <a:p>
            <a:pPr algn="l"/>
            <a:r>
              <a:rPr lang="en-US" sz="5600">
                <a:solidFill>
                  <a:schemeClr val="bg1"/>
                </a:solidFill>
              </a:rPr>
              <a:t>Assessing the Impact of Immigration on Inflation Across Canadian Provinces (2010–2025)</a:t>
            </a:r>
            <a:endParaRPr lang="en-IN" sz="56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3742597"/>
            <a:ext cx="12191990" cy="31154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B0F49-C0F3-9029-9C23-278F74E09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558" y="4307684"/>
            <a:ext cx="9544153" cy="1906846"/>
          </a:xfrm>
        </p:spPr>
        <p:txBody>
          <a:bodyPr anchor="t">
            <a:normAutofit/>
          </a:bodyPr>
          <a:lstStyle/>
          <a:p>
            <a:pPr algn="l"/>
            <a:r>
              <a:rPr lang="en-IN" sz="3200" dirty="0"/>
              <a:t>Darren Andrew Dcunha</a:t>
            </a:r>
          </a:p>
          <a:p>
            <a:pPr algn="l"/>
            <a:r>
              <a:rPr lang="en-IN" sz="3200" dirty="0"/>
              <a:t>PO11015</a:t>
            </a:r>
          </a:p>
          <a:p>
            <a:pPr algn="l"/>
            <a:r>
              <a:rPr lang="en-IN" sz="3200" dirty="0"/>
              <a:t>MPS Data Science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1180" y="41010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25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DAC083-78E5-561E-A9AA-C073DE35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F416CE-E9E0-9662-05E0-F9FD754FAB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project examines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whether immigration influences inflation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across Canadian provinces from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2010–2025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 was collected from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Statistics Canada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covering CPI components, population, immigration/NPR flows, housing supply, and interest rates.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After building a unified provincial dataset, we conducted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EDA, feature engineering, and multiple modeling frameworks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to test the strength and stability of the immigration–inflation relationship.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Models evaluated include: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Linear Regression, Lasso, Ridge, XGBoost, ARIMAX, and VARMAX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goal is to determine whether immigration provides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predictive value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for inflation or whether other macroeconomic forces—such as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interest rates and housing supply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—play a more significant role.</a:t>
            </a:r>
          </a:p>
        </p:txBody>
      </p:sp>
    </p:spTree>
    <p:extLst>
      <p:ext uri="{BB962C8B-B14F-4D97-AF65-F5344CB8AC3E}">
        <p14:creationId xmlns:p14="http://schemas.microsoft.com/office/powerpoint/2010/main" val="2224811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2E3B4-31F2-E6E8-648A-5A9C614B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IN" sz="6800">
                <a:solidFill>
                  <a:srgbClr val="FFFFFF"/>
                </a:solidFill>
              </a:rPr>
              <a:t>Data Collection &amp; Merge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3363188-B48B-CF25-C8E3-1660CF58B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Data Sources</a:t>
            </a:r>
          </a:p>
          <a:p>
            <a:pPr lvl="1"/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CPI (All-items, Shelter)</a:t>
            </a:r>
          </a:p>
          <a:p>
            <a:pPr lvl="1"/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Population</a:t>
            </a:r>
          </a:p>
          <a:p>
            <a:pPr lvl="1"/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Immigration &amp; NPR</a:t>
            </a:r>
          </a:p>
          <a:p>
            <a:pPr lvl="1"/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Housing Starts</a:t>
            </a:r>
          </a:p>
          <a:p>
            <a:pPr lvl="1"/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Interprovincial Migration</a:t>
            </a:r>
          </a:p>
          <a:p>
            <a:pPr lvl="1"/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Policy Rate</a:t>
            </a:r>
          </a:p>
          <a:p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Standardization</a:t>
            </a:r>
          </a:p>
          <a:p>
            <a:pPr lvl="1"/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Converted all datasets to 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quarterly (Q-end)</a:t>
            </a:r>
            <a:endParaRPr lang="en-US" sz="14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Cleaned province labels; </a:t>
            </a:r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removed territories</a:t>
            </a:r>
            <a:endParaRPr lang="en-US" sz="14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Ensured consistent date formats.</a:t>
            </a:r>
          </a:p>
          <a:p>
            <a:pPr marL="457200" lvl="1" indent="0">
              <a:buNone/>
            </a:pPr>
            <a:endParaRPr lang="en-US" sz="14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IN" sz="1400" b="1" dirty="0">
                <a:solidFill>
                  <a:schemeClr val="tx1">
                    <a:alpha val="80000"/>
                  </a:schemeClr>
                </a:solidFill>
              </a:rPr>
              <a:t>Merge Logic</a:t>
            </a:r>
          </a:p>
          <a:p>
            <a:pPr lvl="1"/>
            <a:r>
              <a:rPr lang="en-IN" sz="1400" dirty="0">
                <a:solidFill>
                  <a:schemeClr val="tx1">
                    <a:alpha val="80000"/>
                  </a:schemeClr>
                </a:solidFill>
              </a:rPr>
              <a:t>Merge key: </a:t>
            </a:r>
            <a:r>
              <a:rPr lang="en-IN" sz="1400" b="1" dirty="0">
                <a:solidFill>
                  <a:schemeClr val="tx1">
                    <a:alpha val="80000"/>
                  </a:schemeClr>
                </a:solidFill>
              </a:rPr>
              <a:t>province + </a:t>
            </a:r>
            <a:r>
              <a:rPr lang="en-IN" sz="1400" b="1" dirty="0" err="1">
                <a:solidFill>
                  <a:schemeClr val="tx1">
                    <a:alpha val="80000"/>
                  </a:schemeClr>
                </a:solidFill>
              </a:rPr>
              <a:t>quarter_date</a:t>
            </a:r>
            <a:endParaRPr lang="en-IN" sz="14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IN" sz="1400" dirty="0">
                <a:solidFill>
                  <a:schemeClr val="tx1">
                    <a:alpha val="80000"/>
                  </a:schemeClr>
                </a:solidFill>
              </a:rPr>
              <a:t>Sequential merge:</a:t>
            </a:r>
            <a:br>
              <a:rPr lang="en-IN" sz="14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IN" sz="1400" b="1" dirty="0">
                <a:solidFill>
                  <a:schemeClr val="tx1">
                    <a:alpha val="80000"/>
                  </a:schemeClr>
                </a:solidFill>
              </a:rPr>
              <a:t>CPI → Population → Immigration/NPR → Housing → Migration → Interest Rate</a:t>
            </a:r>
            <a:endParaRPr lang="en-IN" sz="14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IN" sz="1400" dirty="0">
                <a:solidFill>
                  <a:schemeClr val="tx1">
                    <a:alpha val="80000"/>
                  </a:schemeClr>
                </a:solidFill>
              </a:rPr>
              <a:t>Dropped NA rows created from mismatches</a:t>
            </a:r>
          </a:p>
          <a:p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Final Output</a:t>
            </a:r>
          </a:p>
          <a:p>
            <a:pPr lvl="1"/>
            <a:r>
              <a:rPr lang="en-US" sz="1400" b="1" dirty="0">
                <a:solidFill>
                  <a:schemeClr val="tx1">
                    <a:alpha val="80000"/>
                  </a:schemeClr>
                </a:solidFill>
              </a:rPr>
              <a:t>Unified provincial dataset (2010–2025)</a:t>
            </a:r>
            <a:endParaRPr lang="en-US" sz="14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Ready for EDA, feature engineering, and modeling</a:t>
            </a:r>
          </a:p>
          <a:p>
            <a:endParaRPr lang="en-IN" sz="14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227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14" name="Rectangle 8213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8B4BA-FF52-A18B-E7A1-B1FA490C1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2800"/>
              <a:t>Average Contribution of CPI Components (2010–2025)</a:t>
            </a:r>
            <a:endParaRPr lang="en-IN" sz="2800"/>
          </a:p>
        </p:txBody>
      </p:sp>
      <p:sp>
        <p:nvSpPr>
          <p:cNvPr id="8216" name="Rectangle 82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18" name="Rectangle 82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81B5AA95-8653-F00D-498A-075163365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6244" y="850307"/>
            <a:ext cx="5628018" cy="4924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20" name="Rectangle 8219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D9122C-F586-EB6B-DD60-7D628183D1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39012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Energy is the largest driver (15%)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making CPI highly sensitive to oil and fuel shocks.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Shelter, Services, and Transportation together dominate inflation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accounting for nearly 40% of the basket.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Food and Shelter contribute similarly (~13%)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showing persistent pressure on essential household costs.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Recreation, Education, and Health have smaller shares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indicating they play a limited role in overall inflation movement.</a:t>
            </a:r>
          </a:p>
        </p:txBody>
      </p:sp>
      <p:sp>
        <p:nvSpPr>
          <p:cNvPr id="8222" name="Rectangle 8221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6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90" name="Rectangle 7189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5A88EA-A456-D1CB-71CF-12BE3BED3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2500"/>
              <a:t>Housing Supply Is Not Keeping Up With Population Demand (2010–2025)</a:t>
            </a:r>
            <a:endParaRPr lang="en-IN" sz="2500"/>
          </a:p>
        </p:txBody>
      </p:sp>
      <p:sp>
        <p:nvSpPr>
          <p:cNvPr id="7192" name="Rectangle 719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4" name="Rectangle 719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BAAFDCD-FD01-134B-4566-B714A2EFC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6244" y="1919630"/>
            <a:ext cx="5628018" cy="2785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96" name="Rectangle 719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D15D5-C718-B1E2-0474-C78CB3BBDC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39012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Population grows steadily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showing consistent upward pressure on housing demand.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Housing starts are highly volatile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with sharp ups and downs and no stable long-term upward trend.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gap between demand and supply widens over time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indicating that new construction is not matching population growth.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persistent imbalance contributes to rising shelter costs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especially in provinces experiencing strong migration inflows.</a:t>
            </a:r>
          </a:p>
        </p:txBody>
      </p:sp>
      <p:sp>
        <p:nvSpPr>
          <p:cNvPr id="7198" name="Rectangle 719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929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8" name="Rectangle 6167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AFA7EA-AE7F-9836-1ACD-4FA26B7B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2500"/>
              <a:t>Shelter Inflation Has Accelerated Across All Provinces (2010–2025)</a:t>
            </a:r>
            <a:endParaRPr lang="en-IN" sz="2500"/>
          </a:p>
        </p:txBody>
      </p:sp>
      <p:sp>
        <p:nvSpPr>
          <p:cNvPr id="6170" name="Rectangle 6169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2" name="Rectangle 617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BF02FB3-1376-9FB6-8C21-EC313F163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6244" y="1919630"/>
            <a:ext cx="5628018" cy="2785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74" name="Rectangle 617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ED8964-22B1-FA26-D17E-0D1B69FEA9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39012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Shelter prices rise sharply after 2020 across all provinces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indicating a nationwide housing affordability pressure.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Alberta, Saskatchewan, and parts of Atlantic Canada show the steepest increases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reflecting regions with strong population inflows and limited housing supply.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British Columbia remains the lowest but still trends upward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showing that even mature housing markets face sustained inflation.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divergence between provinces widens over time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highlighting increasing regional inequality in housing costs.</a:t>
            </a:r>
          </a:p>
        </p:txBody>
      </p:sp>
      <p:sp>
        <p:nvSpPr>
          <p:cNvPr id="6176" name="Rectangle 617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51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0" name="Rectangle 5139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0B1C31-50AB-5F3D-0995-651FDAB9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2500"/>
              <a:t>The NPR Surge: A Sharp Post-2020 Increase Across All Provinces</a:t>
            </a:r>
            <a:endParaRPr lang="en-IN" sz="2500"/>
          </a:p>
        </p:txBody>
      </p:sp>
      <p:sp>
        <p:nvSpPr>
          <p:cNvPr id="5142" name="Rectangle 514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4" name="Rectangle 514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614F4AF-C49B-F299-DA37-555CE4C96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6244" y="1919630"/>
            <a:ext cx="5628018" cy="2785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46" name="Rectangle 514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09612-8FFA-3D64-2AB4-5F65A28947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39012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Non-Permanent Resident (NPR) levels jump dramatically after 2020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far above historical norms for nearly every province.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All provinces follow the same spike-and-decline pattern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indicating that the surge was a </a:t>
            </a:r>
            <a:r>
              <a:rPr kumimoji="0" lang="en-US" altLang="en-US" sz="15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national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shock, not a regional phenomenon.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Volatility increases significantly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with much larger swings compared to the stable pre-2020 period.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magnitude of the surge (up to 100 NPRs per 10k people) represents a structural break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which helps explain why many models fail to generalize across the 2020–2023 period.</a:t>
            </a:r>
          </a:p>
        </p:txBody>
      </p:sp>
      <p:sp>
        <p:nvSpPr>
          <p:cNvPr id="5148" name="Rectangle 514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84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2" name="Rectangle 4111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4884D4-A329-72AA-EEEA-3A8C67543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N" sz="3600"/>
              <a:t>Correlation Insights</a:t>
            </a:r>
          </a:p>
        </p:txBody>
      </p:sp>
      <p:sp>
        <p:nvSpPr>
          <p:cNvPr id="4114" name="Rectangle 4113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6" name="Rectangle 411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EE429A3-74C6-885F-7223-A7D503894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6244" y="934727"/>
            <a:ext cx="5628018" cy="47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8" name="Rectangle 411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3221D-0492-902B-628A-2941FE830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12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300" b="1" dirty="0"/>
              <a:t>Interest rates have the strongest correlation with Shelter (0.74)</a:t>
            </a:r>
            <a:r>
              <a:rPr lang="en-US" sz="1300" dirty="0"/>
              <a:t>, indicating monetary policy is the dominant driver of shelter costs.</a:t>
            </a:r>
          </a:p>
          <a:p>
            <a:r>
              <a:rPr lang="en-US" sz="1300" b="1" dirty="0"/>
              <a:t>Immigration and NPR flows show only moderate correlations (0.30–0.46)</a:t>
            </a:r>
            <a:r>
              <a:rPr lang="en-US" sz="1300" dirty="0"/>
              <a:t>, suggesting limited direct influence on shelter inflation.</a:t>
            </a:r>
          </a:p>
          <a:p>
            <a:r>
              <a:rPr lang="en-US" sz="1300" b="1" dirty="0"/>
              <a:t>Housing starts per 10k show very weak correlations (≈0.10–0.21)</a:t>
            </a:r>
            <a:r>
              <a:rPr lang="en-US" sz="1300" dirty="0"/>
              <a:t>, reinforcing that new construction effects are slow and diffuse.</a:t>
            </a:r>
          </a:p>
          <a:p>
            <a:r>
              <a:rPr lang="en-US" sz="1300" b="1" dirty="0"/>
              <a:t>Interprovincial migration has almost no relationship with Shelter</a:t>
            </a:r>
            <a:r>
              <a:rPr lang="en-US" sz="1300" dirty="0"/>
              <a:t>, meaning internal mobility does not strongly impact provincial housing inflation.</a:t>
            </a:r>
          </a:p>
          <a:p>
            <a:r>
              <a:rPr lang="en-US" sz="1300" b="1" dirty="0"/>
              <a:t>Overall, monetary policy and broad inflation trends outperform migration variables</a:t>
            </a:r>
            <a:r>
              <a:rPr lang="en-US" sz="1300" dirty="0"/>
              <a:t>, aligning with modeling results that show weak predictive power for immigration-based features.</a:t>
            </a:r>
          </a:p>
          <a:p>
            <a:endParaRPr lang="en-IN" sz="1300" dirty="0"/>
          </a:p>
        </p:txBody>
      </p:sp>
      <p:sp>
        <p:nvSpPr>
          <p:cNvPr id="4120" name="Rectangle 411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79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4" name="Rectangle 3093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4725BF-5845-668C-43AF-4DF6461A9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N" sz="3300"/>
              <a:t>A Province-by-Province Correlation View</a:t>
            </a:r>
          </a:p>
        </p:txBody>
      </p:sp>
      <p:sp>
        <p:nvSpPr>
          <p:cNvPr id="3096" name="Rectangle 309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8" name="Rectangle 309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24622CA-5087-A07F-04E4-EDB41C305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6244" y="1370899"/>
            <a:ext cx="5628018" cy="3883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0" name="Rectangle 3099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80C17-B3A0-335D-2487-B4BC5A8072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39012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Interest rates are the strongest and most consistent driver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with correlations around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0.74–0.78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 every province.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Atlantic provinces show very strong links between immigration and inflation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especially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New Brunswick (0.89), Newfoundland &amp; Labrador (0.86), and Nova Scotia (0.82)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Large provinces (Ontario, BC, Canada) show moderate immigration correlations (0.45–0.65)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indicating weaker demographic pressure relative to housing supply and monetary policy.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Housing starts generally show weak or negative correlations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suggesting supply responses lag far behind inflation dynamics.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Interprovincial migration shows mixed patterns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negative in some provinces (Ontario, Manitoba, Saskatchewan) and weak elsewhere, meaning internal mobility does not uniformly drive inflation.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Overall, monetary policy dominates inflation patterns, while migration effects vary widely by province and are strongest in smaller Atlantic regions.</a:t>
            </a: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3102" name="Rectangle 3101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55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BC9B9-B31A-46CF-EA8B-F5E03611F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Feature Engineering Framework</a:t>
            </a:r>
          </a:p>
        </p:txBody>
      </p:sp>
      <p:graphicFrame>
        <p:nvGraphicFramePr>
          <p:cNvPr id="40" name="Content Placeholder 2">
            <a:extLst>
              <a:ext uri="{FF2B5EF4-FFF2-40B4-BE49-F238E27FC236}">
                <a16:creationId xmlns:a16="http://schemas.microsoft.com/office/drawing/2014/main" id="{0919951E-8B0C-2DDB-2B0A-B92BFBE240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756280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7572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4" name="Rectangle 2073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5D26B-560F-709F-577D-BF2272A69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/>
              <a:t>Engineered Features Correlation Insights</a:t>
            </a:r>
            <a:endParaRPr lang="en-IN" sz="3600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8" name="Rectangle 207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F63B06B-62AC-DAC4-5A0F-73B32839E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6244" y="969902"/>
            <a:ext cx="5628018" cy="468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0" name="Rectangle 2079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BAD8C1-1881-270E-6E55-F057ADD39E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39012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Interest rates (lagged 2 quarters) show the strongest correlation with inflation (0.70)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confirming monetary policy as the most influential driver.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Lagged immigration and NPR variables show moderate correlations (0.33–0.49)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indicating limited and unstable predictive value.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Pressure ratio (newcomers per housing start) has only a mild correlation (0.42)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suggesting that supply–demand imbalance alone does not strongly explain inflation.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Lagged housing starts show very weak or negative correlations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reinforcing that new housing supply impacts inflation slowly and inconsistently.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Overall, engineered migration features do not outperform macro variables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supporting the conclusion that immigration is not a significant predictor of inflation in this dataset.</a:t>
            </a:r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86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B90E90-9411-3719-9A6C-A75E711BD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r>
              <a:rPr lang="en-IN" b="1"/>
              <a:t>Linear regression</a:t>
            </a:r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27CB41E-EE69-0CE6-A2D9-9E397FECC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r>
              <a:rPr lang="en-US" sz="1200" b="1" dirty="0"/>
              <a:t>Exogenous Features Improve the Model — but Only In-Sample</a:t>
            </a:r>
          </a:p>
          <a:p>
            <a:pPr lvl="1"/>
            <a:r>
              <a:rPr lang="en-US" sz="1200" dirty="0"/>
              <a:t>Adding immigration + housing features raises </a:t>
            </a:r>
            <a:r>
              <a:rPr lang="en-US" sz="1200" b="1" dirty="0"/>
              <a:t>Train R²</a:t>
            </a:r>
            <a:r>
              <a:rPr lang="en-US" sz="1200" dirty="0"/>
              <a:t> in almost all provinces.</a:t>
            </a:r>
          </a:p>
          <a:p>
            <a:pPr lvl="1"/>
            <a:r>
              <a:rPr lang="en-US" sz="1200" dirty="0"/>
              <a:t>Biggest gains: </a:t>
            </a:r>
            <a:r>
              <a:rPr lang="en-US" sz="1200" b="1" dirty="0"/>
              <a:t>PEI, Ontario, Canada, Newfoundland</a:t>
            </a:r>
            <a:r>
              <a:rPr lang="en-US" sz="1200" dirty="0"/>
              <a:t>.</a:t>
            </a:r>
          </a:p>
          <a:p>
            <a:r>
              <a:rPr lang="en-US" sz="1200" b="1" dirty="0"/>
              <a:t>Test R² Remains Negative Across All Provinces</a:t>
            </a:r>
          </a:p>
          <a:p>
            <a:pPr lvl="1"/>
            <a:r>
              <a:rPr lang="en-US" sz="1200" dirty="0"/>
              <a:t>Every province still shows </a:t>
            </a:r>
            <a:r>
              <a:rPr lang="en-US" sz="1200" b="1" dirty="0"/>
              <a:t>negative Test R²</a:t>
            </a:r>
            <a:r>
              <a:rPr lang="en-US" sz="1200" dirty="0"/>
              <a:t>, meaning the model performs </a:t>
            </a:r>
            <a:r>
              <a:rPr lang="en-US" sz="1200" i="1" dirty="0"/>
              <a:t>worse than a baseline average</a:t>
            </a:r>
            <a:r>
              <a:rPr lang="en-US" sz="1200" dirty="0"/>
              <a:t>.</a:t>
            </a:r>
          </a:p>
          <a:p>
            <a:r>
              <a:rPr lang="en-US" sz="1200" dirty="0"/>
              <a:t>The model </a:t>
            </a:r>
            <a:r>
              <a:rPr lang="en-US" sz="1200" b="1" dirty="0"/>
              <a:t>fails to generalize</a:t>
            </a:r>
            <a:r>
              <a:rPr lang="en-US" sz="1200" dirty="0"/>
              <a:t>, especially after 2020.</a:t>
            </a:r>
          </a:p>
          <a:p>
            <a:r>
              <a:rPr lang="en-US" sz="1200" b="1" dirty="0"/>
              <a:t> Large Improvements Don’t Translate to Predictive Power</a:t>
            </a:r>
          </a:p>
          <a:p>
            <a:pPr lvl="1"/>
            <a:r>
              <a:rPr lang="en-US" sz="1200" dirty="0"/>
              <a:t>Example: PEI improves by </a:t>
            </a:r>
            <a:r>
              <a:rPr lang="en-US" sz="1200" b="1" dirty="0"/>
              <a:t>+35 R²</a:t>
            </a:r>
            <a:r>
              <a:rPr lang="en-US" sz="1200" dirty="0"/>
              <a:t>, but Test R² is still </a:t>
            </a:r>
            <a:r>
              <a:rPr lang="en-US" sz="1200" b="1" dirty="0"/>
              <a:t>–133</a:t>
            </a:r>
            <a:r>
              <a:rPr lang="en-US" sz="1200" dirty="0"/>
              <a:t> → completely unreliable.</a:t>
            </a:r>
          </a:p>
          <a:p>
            <a:pPr lvl="1"/>
            <a:r>
              <a:rPr lang="en-US" sz="1200" dirty="0"/>
              <a:t>Highlights </a:t>
            </a:r>
            <a:r>
              <a:rPr lang="en-US" sz="1200" b="1" dirty="0"/>
              <a:t>overfitting</a:t>
            </a:r>
            <a:r>
              <a:rPr lang="en-US" sz="1200" dirty="0"/>
              <a:t> and unstable relationships.</a:t>
            </a:r>
          </a:p>
          <a:p>
            <a:r>
              <a:rPr lang="en-US" sz="1200" b="1" dirty="0"/>
              <a:t> Some Provinces Get Worse with Immigration Features</a:t>
            </a:r>
          </a:p>
          <a:p>
            <a:pPr lvl="1"/>
            <a:r>
              <a:rPr lang="en-US" sz="1200" b="1" dirty="0"/>
              <a:t>Quebec and Manitoba</a:t>
            </a:r>
            <a:r>
              <a:rPr lang="en-US" sz="1200" dirty="0"/>
              <a:t> show lower predictive performance after adding exogenous variables.</a:t>
            </a:r>
          </a:p>
          <a:p>
            <a:pPr lvl="1"/>
            <a:r>
              <a:rPr lang="en-US" sz="1200" dirty="0"/>
              <a:t>Immigration features add </a:t>
            </a:r>
            <a:r>
              <a:rPr lang="en-US" sz="1200" b="1" dirty="0"/>
              <a:t>noise, not signal</a:t>
            </a:r>
            <a:r>
              <a:rPr lang="en-US" sz="1200" dirty="0"/>
              <a:t> in these provinces.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879AEAEF-BBDA-FD2C-4CB8-E5E7DB6CD5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6753728"/>
              </p:ext>
            </p:extLst>
          </p:nvPr>
        </p:nvGraphicFramePr>
        <p:xfrm>
          <a:off x="6567948" y="1306071"/>
          <a:ext cx="4763615" cy="444793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91560">
                  <a:extLst>
                    <a:ext uri="{9D8B030D-6E8A-4147-A177-3AD203B41FA5}">
                      <a16:colId xmlns:a16="http://schemas.microsoft.com/office/drawing/2014/main" val="2267080314"/>
                    </a:ext>
                  </a:extLst>
                </a:gridCol>
                <a:gridCol w="545331">
                  <a:extLst>
                    <a:ext uri="{9D8B030D-6E8A-4147-A177-3AD203B41FA5}">
                      <a16:colId xmlns:a16="http://schemas.microsoft.com/office/drawing/2014/main" val="720999729"/>
                    </a:ext>
                  </a:extLst>
                </a:gridCol>
                <a:gridCol w="743603">
                  <a:extLst>
                    <a:ext uri="{9D8B030D-6E8A-4147-A177-3AD203B41FA5}">
                      <a16:colId xmlns:a16="http://schemas.microsoft.com/office/drawing/2014/main" val="1770661379"/>
                    </a:ext>
                  </a:extLst>
                </a:gridCol>
                <a:gridCol w="545331">
                  <a:extLst>
                    <a:ext uri="{9D8B030D-6E8A-4147-A177-3AD203B41FA5}">
                      <a16:colId xmlns:a16="http://schemas.microsoft.com/office/drawing/2014/main" val="1713299828"/>
                    </a:ext>
                  </a:extLst>
                </a:gridCol>
                <a:gridCol w="743603">
                  <a:extLst>
                    <a:ext uri="{9D8B030D-6E8A-4147-A177-3AD203B41FA5}">
                      <a16:colId xmlns:a16="http://schemas.microsoft.com/office/drawing/2014/main" val="1336383398"/>
                    </a:ext>
                  </a:extLst>
                </a:gridCol>
                <a:gridCol w="1094187">
                  <a:extLst>
                    <a:ext uri="{9D8B030D-6E8A-4147-A177-3AD203B41FA5}">
                      <a16:colId xmlns:a16="http://schemas.microsoft.com/office/drawing/2014/main" val="3995863471"/>
                    </a:ext>
                  </a:extLst>
                </a:gridCol>
              </a:tblGrid>
              <a:tr h="6467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Province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Base Train R²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Base Test R²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Exog Train R²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Exog Test R²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000" b="0" u="none" strike="noStrike">
                          <a:effectLst/>
                        </a:rPr>
                        <a:t>Δ </a:t>
                      </a:r>
                      <a:r>
                        <a:rPr lang="en-US" sz="1000" b="0" u="none" strike="noStrike">
                          <a:effectLst/>
                        </a:rPr>
                        <a:t>R² (Improvement)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extLst>
                  <a:ext uri="{0D108BD9-81ED-4DB2-BD59-A6C34878D82A}">
                    <a16:rowId xmlns:a16="http://schemas.microsoft.com/office/drawing/2014/main" val="648929650"/>
                  </a:ext>
                </a:extLst>
              </a:tr>
              <a:tr h="4627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Prince Edward Island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0.508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-168.352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0.584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-133.252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+35.10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extLst>
                  <a:ext uri="{0D108BD9-81ED-4DB2-BD59-A6C34878D82A}">
                    <a16:rowId xmlns:a16="http://schemas.microsoft.com/office/drawing/2014/main" val="3241741827"/>
                  </a:ext>
                </a:extLst>
              </a:tr>
              <a:tr h="2786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Ontario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0.168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-51.563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0.367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-25.497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+26.07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extLst>
                  <a:ext uri="{0D108BD9-81ED-4DB2-BD59-A6C34878D82A}">
                    <a16:rowId xmlns:a16="http://schemas.microsoft.com/office/drawing/2014/main" val="2660167067"/>
                  </a:ext>
                </a:extLst>
              </a:tr>
              <a:tr h="4627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Canada (National)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0.093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-46.513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0.235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-25.452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+21.06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extLst>
                  <a:ext uri="{0D108BD9-81ED-4DB2-BD59-A6C34878D82A}">
                    <a16:rowId xmlns:a16="http://schemas.microsoft.com/office/drawing/2014/main" val="875345520"/>
                  </a:ext>
                </a:extLst>
              </a:tr>
              <a:tr h="4627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Newfoundland &amp; Labrador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0.448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-18.835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0.698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-1.693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+17.14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extLst>
                  <a:ext uri="{0D108BD9-81ED-4DB2-BD59-A6C34878D82A}">
                    <a16:rowId xmlns:a16="http://schemas.microsoft.com/office/drawing/2014/main" val="848344218"/>
                  </a:ext>
                </a:extLst>
              </a:tr>
              <a:tr h="4627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British Columbia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0.498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-36.340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0.649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-24.815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+11.52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extLst>
                  <a:ext uri="{0D108BD9-81ED-4DB2-BD59-A6C34878D82A}">
                    <a16:rowId xmlns:a16="http://schemas.microsoft.com/office/drawing/2014/main" val="2475648335"/>
                  </a:ext>
                </a:extLst>
              </a:tr>
              <a:tr h="2786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Alberta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0.324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-26.212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0.371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-16.289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+9.92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extLst>
                  <a:ext uri="{0D108BD9-81ED-4DB2-BD59-A6C34878D82A}">
                    <a16:rowId xmlns:a16="http://schemas.microsoft.com/office/drawing/2014/main" val="3114915123"/>
                  </a:ext>
                </a:extLst>
              </a:tr>
              <a:tr h="2786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New Brunswick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0.792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-14.642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0.841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-7.530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+7.11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extLst>
                  <a:ext uri="{0D108BD9-81ED-4DB2-BD59-A6C34878D82A}">
                    <a16:rowId xmlns:a16="http://schemas.microsoft.com/office/drawing/2014/main" val="3092573543"/>
                  </a:ext>
                </a:extLst>
              </a:tr>
              <a:tr h="2786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Nova Scotia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0.722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-19.241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0.818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-13.349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+5.89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extLst>
                  <a:ext uri="{0D108BD9-81ED-4DB2-BD59-A6C34878D82A}">
                    <a16:rowId xmlns:a16="http://schemas.microsoft.com/office/drawing/2014/main" val="1939515119"/>
                  </a:ext>
                </a:extLst>
              </a:tr>
              <a:tr h="2786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Saskatchewan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0.767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-47.655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0.778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-46.824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+0.83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extLst>
                  <a:ext uri="{0D108BD9-81ED-4DB2-BD59-A6C34878D82A}">
                    <a16:rowId xmlns:a16="http://schemas.microsoft.com/office/drawing/2014/main" val="360655145"/>
                  </a:ext>
                </a:extLst>
              </a:tr>
              <a:tr h="2786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Quebec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0.318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-27.016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0.523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-40.533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–13.52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extLst>
                  <a:ext uri="{0D108BD9-81ED-4DB2-BD59-A6C34878D82A}">
                    <a16:rowId xmlns:a16="http://schemas.microsoft.com/office/drawing/2014/main" val="775377289"/>
                  </a:ext>
                </a:extLst>
              </a:tr>
              <a:tr h="2786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Manitoba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0.075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-83.490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0.111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-99.756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 dirty="0">
                          <a:effectLst/>
                        </a:rPr>
                        <a:t>–16.27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777" marR="47777" marT="23889" marB="23889" anchor="ctr"/>
                </a:tc>
                <a:extLst>
                  <a:ext uri="{0D108BD9-81ED-4DB2-BD59-A6C34878D82A}">
                    <a16:rowId xmlns:a16="http://schemas.microsoft.com/office/drawing/2014/main" val="4187988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8044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1F6BDA-B829-2111-3AD7-0FD95D51D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5000"/>
              <a:t>Regularization - LASSO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92FEEBC-A2CC-3699-D3B8-7D0A5E93E8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LASSO improves the model in-sample, but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Test R² remains negative in all provinces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Several provinces have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0 selected features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showing weak predictive signal from immigration variables.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Improvements reflect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overfitting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not true forecasting strength.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Overall,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immigration and housing features do not provide reliable predictive power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for All-items inflation.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66E25AD-4994-687E-6F0A-A31E0099E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563576"/>
              </p:ext>
            </p:extLst>
          </p:nvPr>
        </p:nvGraphicFramePr>
        <p:xfrm>
          <a:off x="6099048" y="1739826"/>
          <a:ext cx="5458970" cy="3378348"/>
        </p:xfrm>
        <a:graphic>
          <a:graphicData uri="http://schemas.openxmlformats.org/drawingml/2006/table">
            <a:tbl>
              <a:tblPr/>
              <a:tblGrid>
                <a:gridCol w="1135385">
                  <a:extLst>
                    <a:ext uri="{9D8B030D-6E8A-4147-A177-3AD203B41FA5}">
                      <a16:colId xmlns:a16="http://schemas.microsoft.com/office/drawing/2014/main" val="1726002117"/>
                    </a:ext>
                  </a:extLst>
                </a:gridCol>
                <a:gridCol w="505420">
                  <a:extLst>
                    <a:ext uri="{9D8B030D-6E8A-4147-A177-3AD203B41FA5}">
                      <a16:colId xmlns:a16="http://schemas.microsoft.com/office/drawing/2014/main" val="2319890707"/>
                    </a:ext>
                  </a:extLst>
                </a:gridCol>
                <a:gridCol w="693685">
                  <a:extLst>
                    <a:ext uri="{9D8B030D-6E8A-4147-A177-3AD203B41FA5}">
                      <a16:colId xmlns:a16="http://schemas.microsoft.com/office/drawing/2014/main" val="1603405213"/>
                    </a:ext>
                  </a:extLst>
                </a:gridCol>
                <a:gridCol w="693685">
                  <a:extLst>
                    <a:ext uri="{9D8B030D-6E8A-4147-A177-3AD203B41FA5}">
                      <a16:colId xmlns:a16="http://schemas.microsoft.com/office/drawing/2014/main" val="1855187759"/>
                    </a:ext>
                  </a:extLst>
                </a:gridCol>
                <a:gridCol w="505420">
                  <a:extLst>
                    <a:ext uri="{9D8B030D-6E8A-4147-A177-3AD203B41FA5}">
                      <a16:colId xmlns:a16="http://schemas.microsoft.com/office/drawing/2014/main" val="1960766086"/>
                    </a:ext>
                  </a:extLst>
                </a:gridCol>
                <a:gridCol w="693685">
                  <a:extLst>
                    <a:ext uri="{9D8B030D-6E8A-4147-A177-3AD203B41FA5}">
                      <a16:colId xmlns:a16="http://schemas.microsoft.com/office/drawing/2014/main" val="1261480061"/>
                    </a:ext>
                  </a:extLst>
                </a:gridCol>
                <a:gridCol w="653860">
                  <a:extLst>
                    <a:ext uri="{9D8B030D-6E8A-4147-A177-3AD203B41FA5}">
                      <a16:colId xmlns:a16="http://schemas.microsoft.com/office/drawing/2014/main" val="1298923484"/>
                    </a:ext>
                  </a:extLst>
                </a:gridCol>
                <a:gridCol w="577830">
                  <a:extLst>
                    <a:ext uri="{9D8B030D-6E8A-4147-A177-3AD203B41FA5}">
                      <a16:colId xmlns:a16="http://schemas.microsoft.com/office/drawing/2014/main" val="1554145939"/>
                    </a:ext>
                  </a:extLst>
                </a:gridCol>
              </a:tblGrid>
              <a:tr h="5422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Province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Base Train R²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Base Test R²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Exog Features Selected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Exog Train R²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Exog Test R²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000" b="0" i="0" u="none" strike="noStrike">
                          <a:effectLst/>
                          <a:latin typeface="Arial" panose="020B0604020202020204" pitchFamily="34" charset="0"/>
                        </a:rPr>
                        <a:t>Δ</a:t>
                      </a: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R²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Best Alpha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20134"/>
                  </a:ext>
                </a:extLst>
              </a:tr>
              <a:tr h="2293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Manitoba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0.089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-286.185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0.000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-132.878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+153.31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1.5179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26783"/>
                  </a:ext>
                </a:extLst>
              </a:tr>
              <a:tr h="3857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Newfoundland &amp; Labrador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0.476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-120.923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0.756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-27.936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+92.99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0.0544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138313"/>
                  </a:ext>
                </a:extLst>
              </a:tr>
              <a:tr h="3857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Prince Edward Island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0.578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-211.164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0.487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-126.115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+85.05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1.3565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950348"/>
                  </a:ext>
                </a:extLst>
              </a:tr>
              <a:tr h="2293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Canada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0.099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-116.510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0.000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-65.987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+50.52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2.2285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668318"/>
                  </a:ext>
                </a:extLst>
              </a:tr>
              <a:tr h="2293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Quebec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0.306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-103.193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0.000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-56.022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+47.17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2.6612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675469"/>
                  </a:ext>
                </a:extLst>
              </a:tr>
              <a:tr h="2293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Saskatchewan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0.711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-204.490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0.715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-157.566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+46.92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0.5064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557335"/>
                  </a:ext>
                </a:extLst>
              </a:tr>
              <a:tr h="2293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Alberta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0.380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-106.146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0.130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-62.404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+43.74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3.4805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500034"/>
                  </a:ext>
                </a:extLst>
              </a:tr>
              <a:tr h="2293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British Columbia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0.593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-82.159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0.514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-53.541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+28.62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1.7532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923783"/>
                  </a:ext>
                </a:extLst>
              </a:tr>
              <a:tr h="2293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Ontario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0.191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-83.148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0.000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-68.219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+14.93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4.0176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633570"/>
                  </a:ext>
                </a:extLst>
              </a:tr>
              <a:tr h="2293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Nova Scotia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0.787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-47.669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0.821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-39.031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+8.64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0.5551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225015"/>
                  </a:ext>
                </a:extLst>
              </a:tr>
              <a:tr h="2293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New Brunswick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0.762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-42.981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0.786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effectLst/>
                          <a:latin typeface="Arial" panose="020B0604020202020204" pitchFamily="34" charset="0"/>
                        </a:rPr>
                        <a:t>-35.980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i="0" u="none" strike="noStrike">
                          <a:effectLst/>
                          <a:latin typeface="Arial" panose="020B0604020202020204" pitchFamily="34" charset="0"/>
                        </a:rPr>
                        <a:t>+7.00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 dirty="0">
                          <a:effectLst/>
                          <a:latin typeface="Arial" panose="020B0604020202020204" pitchFamily="34" charset="0"/>
                        </a:rPr>
                        <a:t>0.4531</a:t>
                      </a:r>
                    </a:p>
                  </a:txBody>
                  <a:tcPr marL="52135" marR="52135" marT="26067" marB="26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773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386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C548C4-676A-4644-9D4E-78B580674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5000"/>
              <a:t> Regularization - Ridge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83EE3-EA74-F37A-920F-1A9877B38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1500"/>
              <a:t>Ridge uses </a:t>
            </a:r>
            <a:r>
              <a:rPr lang="en-US" sz="1500" b="1"/>
              <a:t>all features</a:t>
            </a:r>
            <a:r>
              <a:rPr lang="en-US" sz="1500"/>
              <a:t> in every province, confirming strong multicollinearity across predictors.</a:t>
            </a:r>
          </a:p>
          <a:p>
            <a:r>
              <a:rPr lang="en-US" sz="1500"/>
              <a:t>Train R² improves substantially (e.g., Manitoba +152, Newfoundland +92), but </a:t>
            </a:r>
            <a:r>
              <a:rPr lang="en-US" sz="1500" b="1"/>
              <a:t>Test R² remains negative everywhere</a:t>
            </a:r>
            <a:r>
              <a:rPr lang="en-US" sz="1500"/>
              <a:t>.</a:t>
            </a:r>
          </a:p>
          <a:p>
            <a:r>
              <a:rPr lang="en-US" sz="1500"/>
              <a:t>The model fits historical data well but </a:t>
            </a:r>
            <a:r>
              <a:rPr lang="en-US" sz="1500" b="1"/>
              <a:t>fails to generalize</a:t>
            </a:r>
            <a:r>
              <a:rPr lang="en-US" sz="1500"/>
              <a:t>, indicating structural breaks after 2020.</a:t>
            </a:r>
          </a:p>
          <a:p>
            <a:r>
              <a:rPr lang="en-US" sz="1500"/>
              <a:t>Immigration and housing variables still </a:t>
            </a:r>
            <a:r>
              <a:rPr lang="en-US" sz="1500" b="1"/>
              <a:t>do not provide stable predictive power</a:t>
            </a:r>
            <a:r>
              <a:rPr lang="en-US" sz="1500"/>
              <a:t> even with regularization.</a:t>
            </a:r>
          </a:p>
          <a:p>
            <a:r>
              <a:rPr lang="en-US" sz="1500"/>
              <a:t>Ridge reduces overfitting slightly compared to Linear and Lasso, but </a:t>
            </a:r>
            <a:r>
              <a:rPr lang="en-US" sz="1500" b="1"/>
              <a:t>forecast accuracy does not improve</a:t>
            </a:r>
            <a:r>
              <a:rPr lang="en-US" sz="1500"/>
              <a:t>.</a:t>
            </a:r>
          </a:p>
          <a:p>
            <a:endParaRPr lang="en-IN" sz="15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7D3ABE-7D8D-1AC5-D6B7-674C3FDA8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734845"/>
              </p:ext>
            </p:extLst>
          </p:nvPr>
        </p:nvGraphicFramePr>
        <p:xfrm>
          <a:off x="6099048" y="1214669"/>
          <a:ext cx="5458972" cy="442866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99108">
                  <a:extLst>
                    <a:ext uri="{9D8B030D-6E8A-4147-A177-3AD203B41FA5}">
                      <a16:colId xmlns:a16="http://schemas.microsoft.com/office/drawing/2014/main" val="1407438502"/>
                    </a:ext>
                  </a:extLst>
                </a:gridCol>
                <a:gridCol w="597137">
                  <a:extLst>
                    <a:ext uri="{9D8B030D-6E8A-4147-A177-3AD203B41FA5}">
                      <a16:colId xmlns:a16="http://schemas.microsoft.com/office/drawing/2014/main" val="1347961312"/>
                    </a:ext>
                  </a:extLst>
                </a:gridCol>
                <a:gridCol w="770118">
                  <a:extLst>
                    <a:ext uri="{9D8B030D-6E8A-4147-A177-3AD203B41FA5}">
                      <a16:colId xmlns:a16="http://schemas.microsoft.com/office/drawing/2014/main" val="1961295912"/>
                    </a:ext>
                  </a:extLst>
                </a:gridCol>
                <a:gridCol w="597137">
                  <a:extLst>
                    <a:ext uri="{9D8B030D-6E8A-4147-A177-3AD203B41FA5}">
                      <a16:colId xmlns:a16="http://schemas.microsoft.com/office/drawing/2014/main" val="833075214"/>
                    </a:ext>
                  </a:extLst>
                </a:gridCol>
                <a:gridCol w="770118">
                  <a:extLst>
                    <a:ext uri="{9D8B030D-6E8A-4147-A177-3AD203B41FA5}">
                      <a16:colId xmlns:a16="http://schemas.microsoft.com/office/drawing/2014/main" val="1934373872"/>
                    </a:ext>
                  </a:extLst>
                </a:gridCol>
                <a:gridCol w="698479">
                  <a:extLst>
                    <a:ext uri="{9D8B030D-6E8A-4147-A177-3AD203B41FA5}">
                      <a16:colId xmlns:a16="http://schemas.microsoft.com/office/drawing/2014/main" val="4094893256"/>
                    </a:ext>
                  </a:extLst>
                </a:gridCol>
                <a:gridCol w="926875">
                  <a:extLst>
                    <a:ext uri="{9D8B030D-6E8A-4147-A177-3AD203B41FA5}">
                      <a16:colId xmlns:a16="http://schemas.microsoft.com/office/drawing/2014/main" val="3692496344"/>
                    </a:ext>
                  </a:extLst>
                </a:gridCol>
              </a:tblGrid>
              <a:tr h="7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cap="none" spc="60">
                          <a:solidFill>
                            <a:schemeClr val="bg1"/>
                          </a:solidFill>
                        </a:rPr>
                        <a:t>Province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cap="none" spc="60">
                          <a:solidFill>
                            <a:schemeClr val="bg1"/>
                          </a:solidFill>
                        </a:rPr>
                        <a:t>Base Train R²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cap="none" spc="60">
                          <a:solidFill>
                            <a:schemeClr val="bg1"/>
                          </a:solidFill>
                        </a:rPr>
                        <a:t>Base Test R²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cap="none" spc="60">
                          <a:solidFill>
                            <a:schemeClr val="bg1"/>
                          </a:solidFill>
                        </a:rPr>
                        <a:t>Exog Train R²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cap="none" spc="60">
                          <a:solidFill>
                            <a:schemeClr val="bg1"/>
                          </a:solidFill>
                        </a:rPr>
                        <a:t>Exog Test R²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300" b="0" cap="none" spc="60">
                          <a:solidFill>
                            <a:schemeClr val="bg1"/>
                          </a:solidFill>
                        </a:rPr>
                        <a:t>Δ</a:t>
                      </a:r>
                      <a:r>
                        <a:rPr lang="en-IN" sz="1300" b="0" cap="none" spc="60">
                          <a:solidFill>
                            <a:schemeClr val="bg1"/>
                          </a:solidFill>
                        </a:rPr>
                        <a:t>R²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cap="none" spc="60">
                          <a:solidFill>
                            <a:schemeClr val="bg1"/>
                          </a:solidFill>
                        </a:rPr>
                        <a:t>Best Alpha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952310"/>
                  </a:ext>
                </a:extLst>
              </a:tr>
              <a:tr h="29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Manitoba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0.089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-286.185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0.001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-133.322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cap="none" spc="0">
                          <a:solidFill>
                            <a:schemeClr val="tx1"/>
                          </a:solidFill>
                        </a:rPr>
                        <a:t>+152.86</a:t>
                      </a:r>
                      <a:endParaRPr lang="en-IN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10000.0000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224891"/>
                  </a:ext>
                </a:extLst>
              </a:tr>
              <a:tr h="460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Newfoundland &amp; Labrador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0.476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-120.923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0.731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-28.296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cap="none" spc="0">
                          <a:solidFill>
                            <a:schemeClr val="tx1"/>
                          </a:solidFill>
                        </a:rPr>
                        <a:t>+92.63</a:t>
                      </a:r>
                      <a:endParaRPr lang="en-IN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14.3845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473594"/>
                  </a:ext>
                </a:extLst>
              </a:tr>
              <a:tr h="29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Canada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0.099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-116.510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0.094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-60.060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cap="none" spc="0">
                          <a:solidFill>
                            <a:schemeClr val="tx1"/>
                          </a:solidFill>
                        </a:rPr>
                        <a:t>+56.45</a:t>
                      </a:r>
                      <a:endParaRPr lang="en-IN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263.6651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357167"/>
                  </a:ext>
                </a:extLst>
              </a:tr>
              <a:tr h="29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Alberta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0.380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-106.146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0.147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-60.988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cap="none" spc="0">
                          <a:solidFill>
                            <a:schemeClr val="tx1"/>
                          </a:solidFill>
                        </a:rPr>
                        <a:t>+45.16</a:t>
                      </a:r>
                      <a:endParaRPr lang="en-IN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263.6651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811714"/>
                  </a:ext>
                </a:extLst>
              </a:tr>
              <a:tr h="460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Prince Edward Island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0.578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-211.164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0.517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-177.097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cap="none" spc="0">
                          <a:solidFill>
                            <a:schemeClr val="tx1"/>
                          </a:solidFill>
                        </a:rPr>
                        <a:t>+34.07</a:t>
                      </a:r>
                      <a:endParaRPr lang="en-IN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29.7635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363021"/>
                  </a:ext>
                </a:extLst>
              </a:tr>
              <a:tr h="29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Ontario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0.191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-83.148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0.244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-55.139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cap="none" spc="0">
                          <a:solidFill>
                            <a:schemeClr val="tx1"/>
                          </a:solidFill>
                        </a:rPr>
                        <a:t>+28.01</a:t>
                      </a:r>
                      <a:endParaRPr lang="en-IN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127.4275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548618"/>
                  </a:ext>
                </a:extLst>
              </a:tr>
              <a:tr h="29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Quebec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0.306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-103.193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0.433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-77.622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cap="none" spc="0">
                          <a:solidFill>
                            <a:schemeClr val="tx1"/>
                          </a:solidFill>
                        </a:rPr>
                        <a:t>+25.57</a:t>
                      </a:r>
                      <a:endParaRPr lang="en-IN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29.7635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116015"/>
                  </a:ext>
                </a:extLst>
              </a:tr>
              <a:tr h="29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Saskatchewan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0.711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-204.490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0.732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-185.687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cap="none" spc="0">
                          <a:solidFill>
                            <a:schemeClr val="tx1"/>
                          </a:solidFill>
                        </a:rPr>
                        <a:t>+18.80</a:t>
                      </a:r>
                      <a:endParaRPr lang="en-IN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0.0100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343138"/>
                  </a:ext>
                </a:extLst>
              </a:tr>
              <a:tr h="460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British Columbia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0.593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-82.159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0.650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-66.701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cap="none" spc="0">
                          <a:solidFill>
                            <a:schemeClr val="tx1"/>
                          </a:solidFill>
                        </a:rPr>
                        <a:t>+15.46</a:t>
                      </a:r>
                      <a:endParaRPr lang="en-IN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0.7848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55575"/>
                  </a:ext>
                </a:extLst>
              </a:tr>
              <a:tr h="29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New Brunswick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0.762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-42.981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0.785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-28.087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cap="none" spc="0">
                          <a:solidFill>
                            <a:schemeClr val="tx1"/>
                          </a:solidFill>
                        </a:rPr>
                        <a:t>+14.89</a:t>
                      </a:r>
                      <a:endParaRPr lang="en-IN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6.9519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955103"/>
                  </a:ext>
                </a:extLst>
              </a:tr>
              <a:tr h="29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Nova Scotia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0.787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-47.669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0.830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-39.595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cap="none" spc="0">
                          <a:solidFill>
                            <a:schemeClr val="tx1"/>
                          </a:solidFill>
                        </a:rPr>
                        <a:t>+8.07</a:t>
                      </a:r>
                      <a:endParaRPr lang="en-IN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cap="none" spc="0">
                          <a:solidFill>
                            <a:schemeClr val="tx1"/>
                          </a:solidFill>
                        </a:rPr>
                        <a:t>6.9519</a:t>
                      </a:r>
                    </a:p>
                  </a:txBody>
                  <a:tcPr marL="49579" marR="49579" marT="71889" marB="2478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03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1019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EEDE2C-1809-E161-C8E9-6E652DEE1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5400"/>
              <a:t>XGBoost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1D41A-A89A-6836-C911-E5ED8A7E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1500"/>
              <a:t>XGBoost achieves </a:t>
            </a:r>
            <a:r>
              <a:rPr lang="en-US" sz="1500" b="1"/>
              <a:t>very high Train R² (up to 1.00)</a:t>
            </a:r>
            <a:r>
              <a:rPr lang="en-US" sz="1500"/>
              <a:t>, showing it fits historical data extremely well.</a:t>
            </a:r>
          </a:p>
          <a:p>
            <a:r>
              <a:rPr lang="en-US" sz="1500" b="1"/>
              <a:t>All Test R² values remain negative</a:t>
            </a:r>
            <a:r>
              <a:rPr lang="en-US" sz="1500"/>
              <a:t>, indicating the model cannot generalize to unseen data.</a:t>
            </a:r>
          </a:p>
          <a:p>
            <a:r>
              <a:rPr lang="en-US" sz="1500"/>
              <a:t>Exogenous features (immigration, NPR, housing pressure) give </a:t>
            </a:r>
            <a:r>
              <a:rPr lang="en-US" sz="1500" b="1"/>
              <a:t>small improvements</a:t>
            </a:r>
            <a:r>
              <a:rPr lang="en-US" sz="1500"/>
              <a:t> but never produce positive Test R².</a:t>
            </a:r>
          </a:p>
          <a:p>
            <a:r>
              <a:rPr lang="en-US" sz="1500"/>
              <a:t>Several provinces perform </a:t>
            </a:r>
            <a:r>
              <a:rPr lang="en-US" sz="1500" b="1"/>
              <a:t>worse</a:t>
            </a:r>
            <a:r>
              <a:rPr lang="en-US" sz="1500"/>
              <a:t> after adding these features, showing they add noise rather than predictive signal.</a:t>
            </a:r>
          </a:p>
          <a:p>
            <a:r>
              <a:rPr lang="en-US" sz="1500"/>
              <a:t>Overall, even advanced nonlinear modeling shows </a:t>
            </a:r>
            <a:r>
              <a:rPr lang="en-US" sz="1500" b="1"/>
              <a:t>no stable evidence</a:t>
            </a:r>
            <a:r>
              <a:rPr lang="en-US" sz="1500"/>
              <a:t> that immigration or housing features predict inflation.</a:t>
            </a:r>
          </a:p>
          <a:p>
            <a:endParaRPr lang="en-IN" sz="15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AD8478-77B0-288F-6C70-F7559202A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595673"/>
              </p:ext>
            </p:extLst>
          </p:nvPr>
        </p:nvGraphicFramePr>
        <p:xfrm>
          <a:off x="6099048" y="1297045"/>
          <a:ext cx="5458970" cy="4263917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</a:tblPr>
              <a:tblGrid>
                <a:gridCol w="1071309">
                  <a:extLst>
                    <a:ext uri="{9D8B030D-6E8A-4147-A177-3AD203B41FA5}">
                      <a16:colId xmlns:a16="http://schemas.microsoft.com/office/drawing/2014/main" val="2018097219"/>
                    </a:ext>
                  </a:extLst>
                </a:gridCol>
                <a:gridCol w="965316">
                  <a:extLst>
                    <a:ext uri="{9D8B030D-6E8A-4147-A177-3AD203B41FA5}">
                      <a16:colId xmlns:a16="http://schemas.microsoft.com/office/drawing/2014/main" val="2796427949"/>
                    </a:ext>
                  </a:extLst>
                </a:gridCol>
                <a:gridCol w="915037">
                  <a:extLst>
                    <a:ext uri="{9D8B030D-6E8A-4147-A177-3AD203B41FA5}">
                      <a16:colId xmlns:a16="http://schemas.microsoft.com/office/drawing/2014/main" val="755907902"/>
                    </a:ext>
                  </a:extLst>
                </a:gridCol>
                <a:gridCol w="965316">
                  <a:extLst>
                    <a:ext uri="{9D8B030D-6E8A-4147-A177-3AD203B41FA5}">
                      <a16:colId xmlns:a16="http://schemas.microsoft.com/office/drawing/2014/main" val="3547454777"/>
                    </a:ext>
                  </a:extLst>
                </a:gridCol>
                <a:gridCol w="915037">
                  <a:extLst>
                    <a:ext uri="{9D8B030D-6E8A-4147-A177-3AD203B41FA5}">
                      <a16:colId xmlns:a16="http://schemas.microsoft.com/office/drawing/2014/main" val="468784045"/>
                    </a:ext>
                  </a:extLst>
                </a:gridCol>
                <a:gridCol w="626955">
                  <a:extLst>
                    <a:ext uri="{9D8B030D-6E8A-4147-A177-3AD203B41FA5}">
                      <a16:colId xmlns:a16="http://schemas.microsoft.com/office/drawing/2014/main" val="685630393"/>
                    </a:ext>
                  </a:extLst>
                </a:gridCol>
              </a:tblGrid>
              <a:tr h="507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cap="none" spc="0">
                          <a:solidFill>
                            <a:schemeClr val="bg1"/>
                          </a:solidFill>
                        </a:rPr>
                        <a:t>Province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cap="none" spc="0">
                          <a:solidFill>
                            <a:schemeClr val="bg1"/>
                          </a:solidFill>
                        </a:rPr>
                        <a:t>Base Train R²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cap="none" spc="0">
                          <a:solidFill>
                            <a:schemeClr val="bg1"/>
                          </a:solidFill>
                        </a:rPr>
                        <a:t>Base Test R²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cap="none" spc="0">
                          <a:solidFill>
                            <a:schemeClr val="bg1"/>
                          </a:solidFill>
                        </a:rPr>
                        <a:t>Exog Train R²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cap="none" spc="0">
                          <a:solidFill>
                            <a:schemeClr val="bg1"/>
                          </a:solidFill>
                        </a:rPr>
                        <a:t>Exog Test R²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200" b="0" cap="none" spc="0">
                          <a:solidFill>
                            <a:schemeClr val="bg1"/>
                          </a:solidFill>
                        </a:rPr>
                        <a:t>Δ</a:t>
                      </a:r>
                      <a:r>
                        <a:rPr lang="en-IN" sz="1200" b="0" cap="none" spc="0">
                          <a:solidFill>
                            <a:schemeClr val="bg1"/>
                          </a:solidFill>
                        </a:rPr>
                        <a:t>R²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91331"/>
                  </a:ext>
                </a:extLst>
              </a:tr>
              <a:tr h="455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Newfoundland &amp; Labrador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0.720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-94.749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1.000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-70.964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+23.78</a:t>
                      </a:r>
                      <a:endParaRPr lang="en-IN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043713"/>
                  </a:ext>
                </a:extLst>
              </a:tr>
              <a:tr h="298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Manitoba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0.999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-84.197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1.000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-77.264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+6.93</a:t>
                      </a:r>
                      <a:endParaRPr lang="en-IN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521397"/>
                  </a:ext>
                </a:extLst>
              </a:tr>
              <a:tr h="298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Saskatchewan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0.971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-92.904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0.994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-88.003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+4.90</a:t>
                      </a:r>
                      <a:endParaRPr lang="en-IN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82878"/>
                  </a:ext>
                </a:extLst>
              </a:tr>
              <a:tr h="298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Canada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0.899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-44.742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0.972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-40.117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+4.62</a:t>
                      </a:r>
                      <a:endParaRPr lang="en-IN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325324"/>
                  </a:ext>
                </a:extLst>
              </a:tr>
              <a:tr h="455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British Columbia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0.999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-39.284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0.999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-37.067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+2.22</a:t>
                      </a:r>
                      <a:endParaRPr lang="en-IN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596557"/>
                  </a:ext>
                </a:extLst>
              </a:tr>
              <a:tr h="298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Ontario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0.755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-55.169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0.757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-53.186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+1.98</a:t>
                      </a:r>
                      <a:endParaRPr lang="en-IN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787495"/>
                  </a:ext>
                </a:extLst>
              </a:tr>
              <a:tr h="298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Alberta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1.000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-69.164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0.968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-67.212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+1.95</a:t>
                      </a:r>
                      <a:endParaRPr lang="en-IN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018131"/>
                  </a:ext>
                </a:extLst>
              </a:tr>
              <a:tr h="298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Quebec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0.742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-45.571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0.746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-45.868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–0.30</a:t>
                      </a:r>
                      <a:endParaRPr lang="en-IN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31673"/>
                  </a:ext>
                </a:extLst>
              </a:tr>
              <a:tr h="298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Nova Scotia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1.000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-46.751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1.000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-47.186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–0.43</a:t>
                      </a:r>
                      <a:endParaRPr lang="en-IN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132742"/>
                  </a:ext>
                </a:extLst>
              </a:tr>
              <a:tr h="455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Prince Edward Island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0.716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-117.988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0.713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-119.830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–1.84</a:t>
                      </a:r>
                      <a:endParaRPr lang="en-IN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028224"/>
                  </a:ext>
                </a:extLst>
              </a:tr>
              <a:tr h="298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New Brunswick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1.000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-47.681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0.974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-50.906</a:t>
                      </a: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–3.22</a:t>
                      </a:r>
                      <a:endParaRPr lang="en-IN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45" marR="65345" marT="78272" marB="326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53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0126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F0E146-64C9-DFBD-9B99-8AA1E8242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5400"/>
              <a:t>ARIMAX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C6DE82-6B9C-09BC-CA3B-6D74BD10FD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Only three regions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(BC, Canada, Saskatchewan) achieve 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positive Test R²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meaning ARIMAX works only in large, stable markets.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Most provinces show negative Test R²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indicating ARIMAX cannot capture the structural shocks in Shelter inflation.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Train R² is negative across all provinces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showing the base ARIMA structure fits poorly even in-sample.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Smaller and more volatile provinces (PEI, NL, Alberta) show 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very poor forecasting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likely due to extreme post-2020 housing shocks.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Overall, ARIMAX demonstrates that 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migration and Shelter dynamics are not well-explained by linear time-series models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under structural breaks.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B66647-2858-F3FB-9CF1-EEE8C9014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092885"/>
              </p:ext>
            </p:extLst>
          </p:nvPr>
        </p:nvGraphicFramePr>
        <p:xfrm>
          <a:off x="6099048" y="1208596"/>
          <a:ext cx="5458970" cy="444081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74721">
                  <a:extLst>
                    <a:ext uri="{9D8B030D-6E8A-4147-A177-3AD203B41FA5}">
                      <a16:colId xmlns:a16="http://schemas.microsoft.com/office/drawing/2014/main" val="725185161"/>
                    </a:ext>
                  </a:extLst>
                </a:gridCol>
                <a:gridCol w="812000">
                  <a:extLst>
                    <a:ext uri="{9D8B030D-6E8A-4147-A177-3AD203B41FA5}">
                      <a16:colId xmlns:a16="http://schemas.microsoft.com/office/drawing/2014/main" val="4054382227"/>
                    </a:ext>
                  </a:extLst>
                </a:gridCol>
                <a:gridCol w="776296">
                  <a:extLst>
                    <a:ext uri="{9D8B030D-6E8A-4147-A177-3AD203B41FA5}">
                      <a16:colId xmlns:a16="http://schemas.microsoft.com/office/drawing/2014/main" val="3116678242"/>
                    </a:ext>
                  </a:extLst>
                </a:gridCol>
                <a:gridCol w="723454">
                  <a:extLst>
                    <a:ext uri="{9D8B030D-6E8A-4147-A177-3AD203B41FA5}">
                      <a16:colId xmlns:a16="http://schemas.microsoft.com/office/drawing/2014/main" val="1069699435"/>
                    </a:ext>
                  </a:extLst>
                </a:gridCol>
                <a:gridCol w="1176179">
                  <a:extLst>
                    <a:ext uri="{9D8B030D-6E8A-4147-A177-3AD203B41FA5}">
                      <a16:colId xmlns:a16="http://schemas.microsoft.com/office/drawing/2014/main" val="583569293"/>
                    </a:ext>
                  </a:extLst>
                </a:gridCol>
                <a:gridCol w="696320">
                  <a:extLst>
                    <a:ext uri="{9D8B030D-6E8A-4147-A177-3AD203B41FA5}">
                      <a16:colId xmlns:a16="http://schemas.microsoft.com/office/drawing/2014/main" val="3024446249"/>
                    </a:ext>
                  </a:extLst>
                </a:gridCol>
              </a:tblGrid>
              <a:tr h="482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Province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Train R²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Test R²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Test RMSE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Observations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Model Order</a:t>
                      </a:r>
                    </a:p>
                  </a:txBody>
                  <a:tcPr marL="65242" marR="65242" marT="32621" marB="32621" anchor="ctr"/>
                </a:tc>
                <a:extLst>
                  <a:ext uri="{0D108BD9-81ED-4DB2-BD59-A6C34878D82A}">
                    <a16:rowId xmlns:a16="http://schemas.microsoft.com/office/drawing/2014/main" val="624453183"/>
                  </a:ext>
                </a:extLst>
              </a:tr>
              <a:tr h="482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British Columbia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-2.029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0.845</a:t>
                      </a:r>
                      <a:endParaRPr lang="en-IN" sz="1300"/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1.648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58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(1,1,0)</a:t>
                      </a:r>
                    </a:p>
                  </a:txBody>
                  <a:tcPr marL="65242" marR="65242" marT="32621" marB="32621" anchor="ctr"/>
                </a:tc>
                <a:extLst>
                  <a:ext uri="{0D108BD9-81ED-4DB2-BD59-A6C34878D82A}">
                    <a16:rowId xmlns:a16="http://schemas.microsoft.com/office/drawing/2014/main" val="1174426493"/>
                  </a:ext>
                </a:extLst>
              </a:tr>
              <a:tr h="482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Canada (National)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-1.518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0.752</a:t>
                      </a:r>
                      <a:endParaRPr lang="en-IN" sz="1300"/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2.219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58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(1,1,0)</a:t>
                      </a:r>
                    </a:p>
                  </a:txBody>
                  <a:tcPr marL="65242" marR="65242" marT="32621" marB="32621" anchor="ctr"/>
                </a:tc>
                <a:extLst>
                  <a:ext uri="{0D108BD9-81ED-4DB2-BD59-A6C34878D82A}">
                    <a16:rowId xmlns:a16="http://schemas.microsoft.com/office/drawing/2014/main" val="2939997294"/>
                  </a:ext>
                </a:extLst>
              </a:tr>
              <a:tr h="290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Saskatchewan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-2.056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0.600</a:t>
                      </a:r>
                      <a:endParaRPr lang="en-IN" sz="1300"/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2.643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58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(1,1,0)</a:t>
                      </a:r>
                    </a:p>
                  </a:txBody>
                  <a:tcPr marL="65242" marR="65242" marT="32621" marB="32621" anchor="ctr"/>
                </a:tc>
                <a:extLst>
                  <a:ext uri="{0D108BD9-81ED-4DB2-BD59-A6C34878D82A}">
                    <a16:rowId xmlns:a16="http://schemas.microsoft.com/office/drawing/2014/main" val="1430954324"/>
                  </a:ext>
                </a:extLst>
              </a:tr>
              <a:tr h="290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Manitoba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-0.366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-0.560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6.291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58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(1,1,0)</a:t>
                      </a:r>
                    </a:p>
                  </a:txBody>
                  <a:tcPr marL="65242" marR="65242" marT="32621" marB="32621" anchor="ctr"/>
                </a:tc>
                <a:extLst>
                  <a:ext uri="{0D108BD9-81ED-4DB2-BD59-A6C34878D82A}">
                    <a16:rowId xmlns:a16="http://schemas.microsoft.com/office/drawing/2014/main" val="1904456591"/>
                  </a:ext>
                </a:extLst>
              </a:tr>
              <a:tr h="290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Ontario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-0.683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-1.257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6.300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58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(1,1,0)</a:t>
                      </a:r>
                    </a:p>
                  </a:txBody>
                  <a:tcPr marL="65242" marR="65242" marT="32621" marB="32621" anchor="ctr"/>
                </a:tc>
                <a:extLst>
                  <a:ext uri="{0D108BD9-81ED-4DB2-BD59-A6C34878D82A}">
                    <a16:rowId xmlns:a16="http://schemas.microsoft.com/office/drawing/2014/main" val="983334498"/>
                  </a:ext>
                </a:extLst>
              </a:tr>
              <a:tr h="290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Quebec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-3.292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-1.928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8.679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58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(1,1,0)</a:t>
                      </a:r>
                    </a:p>
                  </a:txBody>
                  <a:tcPr marL="65242" marR="65242" marT="32621" marB="32621" anchor="ctr"/>
                </a:tc>
                <a:extLst>
                  <a:ext uri="{0D108BD9-81ED-4DB2-BD59-A6C34878D82A}">
                    <a16:rowId xmlns:a16="http://schemas.microsoft.com/office/drawing/2014/main" val="434839274"/>
                  </a:ext>
                </a:extLst>
              </a:tr>
              <a:tr h="290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New Brunswick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-1.821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-4.217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9.955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58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(1,1,0)</a:t>
                      </a:r>
                    </a:p>
                  </a:txBody>
                  <a:tcPr marL="65242" marR="65242" marT="32621" marB="32621" anchor="ctr"/>
                </a:tc>
                <a:extLst>
                  <a:ext uri="{0D108BD9-81ED-4DB2-BD59-A6C34878D82A}">
                    <a16:rowId xmlns:a16="http://schemas.microsoft.com/office/drawing/2014/main" val="1485604885"/>
                  </a:ext>
                </a:extLst>
              </a:tr>
              <a:tr h="290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Alberta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-1.802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-8.070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15.009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58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(1,1,0)</a:t>
                      </a:r>
                    </a:p>
                  </a:txBody>
                  <a:tcPr marL="65242" marR="65242" marT="32621" marB="32621" anchor="ctr"/>
                </a:tc>
                <a:extLst>
                  <a:ext uri="{0D108BD9-81ED-4DB2-BD59-A6C34878D82A}">
                    <a16:rowId xmlns:a16="http://schemas.microsoft.com/office/drawing/2014/main" val="4126007237"/>
                  </a:ext>
                </a:extLst>
              </a:tr>
              <a:tr h="290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Nova Scotia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-1.520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-8.350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14.208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58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(1,1,0)</a:t>
                      </a:r>
                    </a:p>
                  </a:txBody>
                  <a:tcPr marL="65242" marR="65242" marT="32621" marB="32621" anchor="ctr"/>
                </a:tc>
                <a:extLst>
                  <a:ext uri="{0D108BD9-81ED-4DB2-BD59-A6C34878D82A}">
                    <a16:rowId xmlns:a16="http://schemas.microsoft.com/office/drawing/2014/main" val="4137158600"/>
                  </a:ext>
                </a:extLst>
              </a:tr>
              <a:tr h="482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Newfoundland &amp; Labrador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-1.512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-9.156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12.921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58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(1,1,0)</a:t>
                      </a:r>
                    </a:p>
                  </a:txBody>
                  <a:tcPr marL="65242" marR="65242" marT="32621" marB="32621" anchor="ctr"/>
                </a:tc>
                <a:extLst>
                  <a:ext uri="{0D108BD9-81ED-4DB2-BD59-A6C34878D82A}">
                    <a16:rowId xmlns:a16="http://schemas.microsoft.com/office/drawing/2014/main" val="322060221"/>
                  </a:ext>
                </a:extLst>
              </a:tr>
              <a:tr h="482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Prince Edward Island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-1.214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-17.558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11.480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58</a:t>
                      </a:r>
                    </a:p>
                  </a:txBody>
                  <a:tcPr marL="65242" marR="65242" marT="32621" marB="32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(1,1,0)</a:t>
                      </a:r>
                    </a:p>
                  </a:txBody>
                  <a:tcPr marL="65242" marR="65242" marT="32621" marB="32621" anchor="ctr"/>
                </a:tc>
                <a:extLst>
                  <a:ext uri="{0D108BD9-81ED-4DB2-BD59-A6C34878D82A}">
                    <a16:rowId xmlns:a16="http://schemas.microsoft.com/office/drawing/2014/main" val="3973725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470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89FF5E-5622-708E-E714-3AB674F25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N" sz="3600"/>
              <a:t>VARMAX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8D71423-CF8B-482D-C36D-7EF5E1ECE7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39012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VARMAX provides 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only one positive Test R²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(Canada = 0.127), showing limited forecasting ability.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Most provinces still have 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negative Test R²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meaning multivariate dynamics do not generalize well out-of-sample.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Train R² values are moderate (0.18–0.43), indicating the model struggles even in fitting historical relationships.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Structural breaks after 2020 likely disrupt the joint behavior of inflation, immigration, housing, and interest rates, making VARMAX unstable.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Overall, VARMAX shows 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 strong evidence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that adding immigration and housing supply variables improves inflation forecasting.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9646BE6-05D7-7D40-E8D8-2A23D78D6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751627"/>
              </p:ext>
            </p:extLst>
          </p:nvPr>
        </p:nvGraphicFramePr>
        <p:xfrm>
          <a:off x="930454" y="650494"/>
          <a:ext cx="4998398" cy="532415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43302">
                  <a:extLst>
                    <a:ext uri="{9D8B030D-6E8A-4147-A177-3AD203B41FA5}">
                      <a16:colId xmlns:a16="http://schemas.microsoft.com/office/drawing/2014/main" val="1001079959"/>
                    </a:ext>
                  </a:extLst>
                </a:gridCol>
                <a:gridCol w="782705">
                  <a:extLst>
                    <a:ext uri="{9D8B030D-6E8A-4147-A177-3AD203B41FA5}">
                      <a16:colId xmlns:a16="http://schemas.microsoft.com/office/drawing/2014/main" val="1320113643"/>
                    </a:ext>
                  </a:extLst>
                </a:gridCol>
                <a:gridCol w="733751">
                  <a:extLst>
                    <a:ext uri="{9D8B030D-6E8A-4147-A177-3AD203B41FA5}">
                      <a16:colId xmlns:a16="http://schemas.microsoft.com/office/drawing/2014/main" val="1790705495"/>
                    </a:ext>
                  </a:extLst>
                </a:gridCol>
                <a:gridCol w="1011681">
                  <a:extLst>
                    <a:ext uri="{9D8B030D-6E8A-4147-A177-3AD203B41FA5}">
                      <a16:colId xmlns:a16="http://schemas.microsoft.com/office/drawing/2014/main" val="1961158933"/>
                    </a:ext>
                  </a:extLst>
                </a:gridCol>
                <a:gridCol w="1126959">
                  <a:extLst>
                    <a:ext uri="{9D8B030D-6E8A-4147-A177-3AD203B41FA5}">
                      <a16:colId xmlns:a16="http://schemas.microsoft.com/office/drawing/2014/main" val="171482427"/>
                    </a:ext>
                  </a:extLst>
                </a:gridCol>
              </a:tblGrid>
              <a:tr h="381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Province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Train R²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Test R²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Test RMSE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Observations</a:t>
                      </a:r>
                    </a:p>
                  </a:txBody>
                  <a:tcPr marL="51661" marR="51661" marT="25830" marB="25830" anchor="ctr"/>
                </a:tc>
                <a:extLst>
                  <a:ext uri="{0D108BD9-81ED-4DB2-BD59-A6C34878D82A}">
                    <a16:rowId xmlns:a16="http://schemas.microsoft.com/office/drawing/2014/main" val="1348837329"/>
                  </a:ext>
                </a:extLst>
              </a:tr>
              <a:tr h="11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Canada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0.425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0.127</a:t>
                      </a:r>
                      <a:endParaRPr lang="en-IN" sz="1000"/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0.434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57</a:t>
                      </a:r>
                    </a:p>
                  </a:txBody>
                  <a:tcPr marL="51661" marR="51661" marT="25830" marB="25830" anchor="ctr"/>
                </a:tc>
                <a:extLst>
                  <a:ext uri="{0D108BD9-81ED-4DB2-BD59-A6C34878D82A}">
                    <a16:rowId xmlns:a16="http://schemas.microsoft.com/office/drawing/2014/main" val="736707680"/>
                  </a:ext>
                </a:extLst>
              </a:tr>
              <a:tr h="381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British Columbia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0.190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-0.015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0.431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57</a:t>
                      </a:r>
                    </a:p>
                  </a:txBody>
                  <a:tcPr marL="51661" marR="51661" marT="25830" marB="25830" anchor="ctr"/>
                </a:tc>
                <a:extLst>
                  <a:ext uri="{0D108BD9-81ED-4DB2-BD59-A6C34878D82A}">
                    <a16:rowId xmlns:a16="http://schemas.microsoft.com/office/drawing/2014/main" val="2042144982"/>
                  </a:ext>
                </a:extLst>
              </a:tr>
              <a:tr h="381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Quebec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0.398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-0.026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0.523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57</a:t>
                      </a:r>
                    </a:p>
                  </a:txBody>
                  <a:tcPr marL="51661" marR="51661" marT="25830" marB="25830" anchor="ctr"/>
                </a:tc>
                <a:extLst>
                  <a:ext uri="{0D108BD9-81ED-4DB2-BD59-A6C34878D82A}">
                    <a16:rowId xmlns:a16="http://schemas.microsoft.com/office/drawing/2014/main" val="1165569683"/>
                  </a:ext>
                </a:extLst>
              </a:tr>
              <a:tr h="381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New Brunswick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0.185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-0.034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0.723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57</a:t>
                      </a:r>
                    </a:p>
                  </a:txBody>
                  <a:tcPr marL="51661" marR="51661" marT="25830" marB="25830" anchor="ctr"/>
                </a:tc>
                <a:extLst>
                  <a:ext uri="{0D108BD9-81ED-4DB2-BD59-A6C34878D82A}">
                    <a16:rowId xmlns:a16="http://schemas.microsoft.com/office/drawing/2014/main" val="1460034400"/>
                  </a:ext>
                </a:extLst>
              </a:tr>
              <a:tr h="381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Newfoundland &amp; Labrador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0.182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-0.047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0.642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57</a:t>
                      </a:r>
                    </a:p>
                  </a:txBody>
                  <a:tcPr marL="51661" marR="51661" marT="25830" marB="25830" anchor="ctr"/>
                </a:tc>
                <a:extLst>
                  <a:ext uri="{0D108BD9-81ED-4DB2-BD59-A6C34878D82A}">
                    <a16:rowId xmlns:a16="http://schemas.microsoft.com/office/drawing/2014/main" val="1169385737"/>
                  </a:ext>
                </a:extLst>
              </a:tr>
              <a:tr h="381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Saskatchewan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0.413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-0.063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0.578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57</a:t>
                      </a:r>
                    </a:p>
                  </a:txBody>
                  <a:tcPr marL="51661" marR="51661" marT="25830" marB="25830" anchor="ctr"/>
                </a:tc>
                <a:extLst>
                  <a:ext uri="{0D108BD9-81ED-4DB2-BD59-A6C34878D82A}">
                    <a16:rowId xmlns:a16="http://schemas.microsoft.com/office/drawing/2014/main" val="3673756471"/>
                  </a:ext>
                </a:extLst>
              </a:tr>
              <a:tr h="381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Prince Edward Island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0.216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-0.123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0.908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57</a:t>
                      </a:r>
                    </a:p>
                  </a:txBody>
                  <a:tcPr marL="51661" marR="51661" marT="25830" marB="25830" anchor="ctr"/>
                </a:tc>
                <a:extLst>
                  <a:ext uri="{0D108BD9-81ED-4DB2-BD59-A6C34878D82A}">
                    <a16:rowId xmlns:a16="http://schemas.microsoft.com/office/drawing/2014/main" val="2513041237"/>
                  </a:ext>
                </a:extLst>
              </a:tr>
              <a:tr h="381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Ontario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0.428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-0.125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0.493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57</a:t>
                      </a:r>
                    </a:p>
                  </a:txBody>
                  <a:tcPr marL="51661" marR="51661" marT="25830" marB="25830" anchor="ctr"/>
                </a:tc>
                <a:extLst>
                  <a:ext uri="{0D108BD9-81ED-4DB2-BD59-A6C34878D82A}">
                    <a16:rowId xmlns:a16="http://schemas.microsoft.com/office/drawing/2014/main" val="2247720460"/>
                  </a:ext>
                </a:extLst>
              </a:tr>
              <a:tr h="381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Alberta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0.102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-0.158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0.636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57</a:t>
                      </a:r>
                    </a:p>
                  </a:txBody>
                  <a:tcPr marL="51661" marR="51661" marT="25830" marB="25830" anchor="ctr"/>
                </a:tc>
                <a:extLst>
                  <a:ext uri="{0D108BD9-81ED-4DB2-BD59-A6C34878D82A}">
                    <a16:rowId xmlns:a16="http://schemas.microsoft.com/office/drawing/2014/main" val="1004743929"/>
                  </a:ext>
                </a:extLst>
              </a:tr>
              <a:tr h="381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Nova Scotia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0.232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-0.432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0.899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57</a:t>
                      </a:r>
                    </a:p>
                  </a:txBody>
                  <a:tcPr marL="51661" marR="51661" marT="25830" marB="25830" anchor="ctr"/>
                </a:tc>
                <a:extLst>
                  <a:ext uri="{0D108BD9-81ED-4DB2-BD59-A6C34878D82A}">
                    <a16:rowId xmlns:a16="http://schemas.microsoft.com/office/drawing/2014/main" val="894135862"/>
                  </a:ext>
                </a:extLst>
              </a:tr>
              <a:tr h="381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Manitoba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0.356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-0.441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0.838</a:t>
                      </a:r>
                    </a:p>
                  </a:txBody>
                  <a:tcPr marL="51661" marR="51661" marT="25830" marB="258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57</a:t>
                      </a:r>
                    </a:p>
                  </a:txBody>
                  <a:tcPr marL="51661" marR="51661" marT="25830" marB="25830" anchor="ctr"/>
                </a:tc>
                <a:extLst>
                  <a:ext uri="{0D108BD9-81ED-4DB2-BD59-A6C34878D82A}">
                    <a16:rowId xmlns:a16="http://schemas.microsoft.com/office/drawing/2014/main" val="3133030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818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EBB7E-759B-7260-D568-4B4695BA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Insights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CCF6064-5844-64BE-394F-BD0267A81DB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43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172D16-104A-DF94-0C42-9239ECDEF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 dirty="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F03CF9-D3AA-BEA5-0B25-BD9BEEE061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Explore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nonlinear, regime-switching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better capture structural breaks.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Incorporate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rental vacancy rates, construction timelines, wage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regional market indicators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panel-data models (fixed effects, random effects)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cross-province comparisons.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Assess whether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machine learning with time-series cross-validation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improves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1604984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6F3A72-23F9-92A4-14E1-E0CDDEE4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2748F4A-7136-0A58-7EE2-CE34DB191B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Immigration-related features improve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training R²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but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test R² remains negative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across nearly all provinces and models →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 generalizable predictive power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Interest rates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show the strongest and most stable relationship with inflation, far stronger than any migration variable.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Shelter inflation has only moderate links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to immigration, meaning migration adds demand pressure but is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not a primary driver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of overall inflation.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NPR surges after 2021 created major structural breaks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preventing models from learning stable relationships.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Correlations seen in small provinces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do not translate to forecasting ability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indicating they are not causal inflation mechanisms.</a:t>
            </a:r>
          </a:p>
        </p:txBody>
      </p:sp>
    </p:spTree>
    <p:extLst>
      <p:ext uri="{BB962C8B-B14F-4D97-AF65-F5344CB8AC3E}">
        <p14:creationId xmlns:p14="http://schemas.microsoft.com/office/powerpoint/2010/main" val="965681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28265-AD7A-55DC-44A0-6E3575E6B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Final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765ADC-1678-0080-A510-658391AD5A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Evidence to date shows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 reliable or consistent influence of immigration on inflation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 Canada.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We will continue testing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more advanced, nonlinear, and regime-switching models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to ensure no hidden effects are overlooked.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 final conclusion will be drawn only after exploring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all alternative modeling frameworks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4955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2676</Words>
  <Application>Microsoft Office PowerPoint</Application>
  <PresentationFormat>Widescreen</PresentationFormat>
  <Paragraphs>598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Office Theme</vt:lpstr>
      <vt:lpstr>Assessing the Impact of Immigration on Inflation Across Canadian Provinces (2010–2025)</vt:lpstr>
      <vt:lpstr>Introduction</vt:lpstr>
      <vt:lpstr>Data Collection &amp; Merge</vt:lpstr>
      <vt:lpstr>Average Contribution of CPI Components (2010–2025)</vt:lpstr>
      <vt:lpstr>Housing Supply Is Not Keeping Up With Population Demand (2010–2025)</vt:lpstr>
      <vt:lpstr>Shelter Inflation Has Accelerated Across All Provinces (2010–2025)</vt:lpstr>
      <vt:lpstr>The NPR Surge: A Sharp Post-2020 Increase Across All Provinces</vt:lpstr>
      <vt:lpstr>Correlation Insights</vt:lpstr>
      <vt:lpstr>A Province-by-Province Correlation View</vt:lpstr>
      <vt:lpstr>Feature Engineering Framework</vt:lpstr>
      <vt:lpstr>Engineered Features Correlation Insights</vt:lpstr>
      <vt:lpstr>Linear regression</vt:lpstr>
      <vt:lpstr>Regularization - LASSO</vt:lpstr>
      <vt:lpstr> Regularization - Ridge</vt:lpstr>
      <vt:lpstr>XGBoost</vt:lpstr>
      <vt:lpstr>ARIMAX</vt:lpstr>
      <vt:lpstr>VARMAX</vt:lpstr>
      <vt:lpstr>Project Insights</vt:lpstr>
      <vt:lpstr>Future Work</vt:lpstr>
      <vt:lpstr>Conclusions</vt:lpstr>
      <vt:lpstr>Final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Darren Dcunha</dc:creator>
  <cp:lastModifiedBy>Darren Dcunha</cp:lastModifiedBy>
  <cp:revision>2</cp:revision>
  <dcterms:created xsi:type="dcterms:W3CDTF">2025-12-05T17:19:11Z</dcterms:created>
  <dcterms:modified xsi:type="dcterms:W3CDTF">2025-12-05T19:14:00Z</dcterms:modified>
</cp:coreProperties>
</file>